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3ef3855b94367" /><Relationship Type="http://schemas.openxmlformats.org/officeDocument/2006/relationships/extended-properties" Target="/docProps/app.xml" Id="R5e98c5d8452744c2" /><Relationship Type="http://schemas.openxmlformats.org/officeDocument/2006/relationships/officeDocument" Target="/ppt/presentation.xml" Id="Re6c6d069ebdb4b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6980954c646ac"/>
  </p:sldMasterIdLst>
  <p:notesMasterIdLst>
    <p:notesMasterId xmlns:r="http://schemas.openxmlformats.org/officeDocument/2006/relationships" r:id="R64ba47a667d7429c"/>
  </p:notesMasterIdLst>
  <p:sldIdLst>
    <p:sldId xmlns:r="http://schemas.openxmlformats.org/officeDocument/2006/relationships" id="256" r:id="Rab70e35d6a77417a"/>
    <p:sldId xmlns:r="http://schemas.openxmlformats.org/officeDocument/2006/relationships" id="257" r:id="R7a10fc62a86a44f9"/>
    <p:sldId xmlns:r="http://schemas.openxmlformats.org/officeDocument/2006/relationships" id="258" r:id="R37ebf3e160e248ac"/>
    <p:sldId xmlns:r="http://schemas.openxmlformats.org/officeDocument/2006/relationships" id="259" r:id="R29c86ffd16644d77"/>
    <p:sldId xmlns:r="http://schemas.openxmlformats.org/officeDocument/2006/relationships" id="260" r:id="Rc09dbfbc5d5f4a84"/>
    <p:sldId xmlns:r="http://schemas.openxmlformats.org/officeDocument/2006/relationships" id="261" r:id="Re743fbf98434436b"/>
    <p:sldId xmlns:r="http://schemas.openxmlformats.org/officeDocument/2006/relationships" id="262" r:id="Ra830b375623f4bdc"/>
    <p:sldId xmlns:r="http://schemas.openxmlformats.org/officeDocument/2006/relationships" id="263" r:id="R3ecfc5dcbafe4d7a"/>
    <p:sldId xmlns:r="http://schemas.openxmlformats.org/officeDocument/2006/relationships" id="264" r:id="R8d13d4cf0e7b4785"/>
    <p:sldId xmlns:r="http://schemas.openxmlformats.org/officeDocument/2006/relationships" id="265" r:id="R7e0bf9f9fa5842f6"/>
    <p:sldId xmlns:r="http://schemas.openxmlformats.org/officeDocument/2006/relationships" id="266" r:id="R4706067a1df44f92"/>
    <p:sldId xmlns:r="http://schemas.openxmlformats.org/officeDocument/2006/relationships" id="267" r:id="R4a2798ffecd54839"/>
    <p:sldId xmlns:r="http://schemas.openxmlformats.org/officeDocument/2006/relationships" id="268" r:id="Rfab0621b55b443ca"/>
    <p:sldId xmlns:r="http://schemas.openxmlformats.org/officeDocument/2006/relationships" id="269" r:id="Rd82b9a3969144cc6"/>
    <p:sldId xmlns:r="http://schemas.openxmlformats.org/officeDocument/2006/relationships" id="270" r:id="R4ce8112e05a348ee"/>
    <p:sldId xmlns:r="http://schemas.openxmlformats.org/officeDocument/2006/relationships" id="271" r:id="R1f563152e4cf41cd"/>
    <p:sldId xmlns:r="http://schemas.openxmlformats.org/officeDocument/2006/relationships" id="272" r:id="R1e2a02934bf64a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6980954c646ac" /><Relationship Type="http://schemas.openxmlformats.org/officeDocument/2006/relationships/theme" Target="/ppt/theme/theme1.xml" Id="R433d4f0d9e5e4f78" /><Relationship Type="http://schemas.openxmlformats.org/officeDocument/2006/relationships/notesMaster" Target="/ppt/notesMasters/notesMaster1.xml" Id="R64ba47a667d7429c" /><Relationship Type="http://schemas.openxmlformats.org/officeDocument/2006/relationships/presProps" Target="/ppt/presProps.xml" Id="R4eb7ccd5b8074497" /><Relationship Type="http://schemas.openxmlformats.org/officeDocument/2006/relationships/viewProps" Target="/ppt/viewProps.xml" Id="Rb2b3f619cdef4d1a" /><Relationship Type="http://schemas.openxmlformats.org/officeDocument/2006/relationships/tableStyles" Target="/ppt/tableStyles.xml" Id="Ra228e2a537424d16" /><Relationship Type="http://schemas.openxmlformats.org/officeDocument/2006/relationships/slide" Target="/ppt/slides/slide1.xml" Id="Rab70e35d6a77417a" /><Relationship Type="http://schemas.openxmlformats.org/officeDocument/2006/relationships/slide" Target="/ppt/slides/slide2.xml" Id="R7a10fc62a86a44f9" /><Relationship Type="http://schemas.openxmlformats.org/officeDocument/2006/relationships/slide" Target="/ppt/slides/slide3.xml" Id="R37ebf3e160e248ac" /><Relationship Type="http://schemas.openxmlformats.org/officeDocument/2006/relationships/slide" Target="/ppt/slides/slide4.xml" Id="R29c86ffd16644d77" /><Relationship Type="http://schemas.openxmlformats.org/officeDocument/2006/relationships/slide" Target="/ppt/slides/slide5.xml" Id="Rc09dbfbc5d5f4a84" /><Relationship Type="http://schemas.openxmlformats.org/officeDocument/2006/relationships/slide" Target="/ppt/slides/slide6.xml" Id="Re743fbf98434436b" /><Relationship Type="http://schemas.openxmlformats.org/officeDocument/2006/relationships/slide" Target="/ppt/slides/slide7.xml" Id="Ra830b375623f4bdc" /><Relationship Type="http://schemas.openxmlformats.org/officeDocument/2006/relationships/slide" Target="/ppt/slides/slide8.xml" Id="R3ecfc5dcbafe4d7a" /><Relationship Type="http://schemas.openxmlformats.org/officeDocument/2006/relationships/slide" Target="/ppt/slides/slide9.xml" Id="R8d13d4cf0e7b4785" /><Relationship Type="http://schemas.openxmlformats.org/officeDocument/2006/relationships/slide" Target="/ppt/slides/slide10.xml" Id="R7e0bf9f9fa5842f6" /><Relationship Type="http://schemas.openxmlformats.org/officeDocument/2006/relationships/slide" Target="/ppt/slides/slide11.xml" Id="R4706067a1df44f92" /><Relationship Type="http://schemas.openxmlformats.org/officeDocument/2006/relationships/slide" Target="/ppt/slides/slide12.xml" Id="R4a2798ffecd54839" /><Relationship Type="http://schemas.openxmlformats.org/officeDocument/2006/relationships/slide" Target="/ppt/slides/slide13.xml" Id="Rfab0621b55b443ca" /><Relationship Type="http://schemas.openxmlformats.org/officeDocument/2006/relationships/slide" Target="/ppt/slides/slide14.xml" Id="Rd82b9a3969144cc6" /><Relationship Type="http://schemas.openxmlformats.org/officeDocument/2006/relationships/slide" Target="/ppt/slides/slide15.xml" Id="R4ce8112e05a348ee" /><Relationship Type="http://schemas.openxmlformats.org/officeDocument/2006/relationships/slide" Target="/ppt/slides/slide16.xml" Id="R1f563152e4cf41cd" /><Relationship Type="http://schemas.openxmlformats.org/officeDocument/2006/relationships/slide" Target="/ppt/slides/slide17.xml" Id="R1e2a02934bf6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b60ba03a52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phemeral OS BP">
  <a:themeElements>
    <a:clrScheme name="Ephemeral OS BP">
      <a:accent1>
        <a:srgbClr val="00D4AA"/>
      </a:accent1>
      <a:accent2>
        <a:srgbClr val="3B82F6"/>
      </a:accent2>
      <a:accent3>
        <a:srgbClr val="8B5CF6"/>
      </a:accent3>
      <a:accent4>
        <a:srgbClr val="F59E0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hemeral OS B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8d136bf0ee4375" /><Relationship Type="http://schemas.openxmlformats.org/officeDocument/2006/relationships/notesMaster" Target="/ppt/notesMasters/notesMaster1.xml" Id="R1e9bc0552994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f9562a6274113" /><Relationship Type="http://schemas.openxmlformats.org/officeDocument/2006/relationships/notesMaster" Target="/ppt/notesMasters/notesMaster1.xml" Id="R1bbf9c04f5ed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73fdc6a0b4e78" /><Relationship Type="http://schemas.openxmlformats.org/officeDocument/2006/relationships/notesMaster" Target="/ppt/notesMasters/notesMaster1.xml" Id="Re71000118f3e49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e5776b69a84bbd" /><Relationship Type="http://schemas.openxmlformats.org/officeDocument/2006/relationships/notesMaster" Target="/ppt/notesMasters/notesMaster1.xml" Id="R31cbc883006545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85d38b4a447b8" /><Relationship Type="http://schemas.openxmlformats.org/officeDocument/2006/relationships/notesMaster" Target="/ppt/notesMasters/notesMaster1.xml" Id="Rdd460500870a41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fb1980406476e" /><Relationship Type="http://schemas.openxmlformats.org/officeDocument/2006/relationships/notesMaster" Target="/ppt/notesMasters/notesMaster1.xml" Id="Rf3a4090aa69643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189bc16b174cc2" /><Relationship Type="http://schemas.openxmlformats.org/officeDocument/2006/relationships/notesMaster" Target="/ppt/notesMasters/notesMaster1.xml" Id="R9dc65b40da3f4f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be7046f47e4211" /><Relationship Type="http://schemas.openxmlformats.org/officeDocument/2006/relationships/notesMaster" Target="/ppt/notesMasters/notesMaster1.xml" Id="R88fc33fb022f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251152e65d4c89" /><Relationship Type="http://schemas.openxmlformats.org/officeDocument/2006/relationships/notesMaster" Target="/ppt/notesMasters/notesMaster1.xml" Id="Rb4869b15bde64f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fa9cc196b45bc" /><Relationship Type="http://schemas.openxmlformats.org/officeDocument/2006/relationships/notesMaster" Target="/ppt/notesMasters/notesMaster1.xml" Id="R212848643fd940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e915bcb9c545e7" /><Relationship Type="http://schemas.openxmlformats.org/officeDocument/2006/relationships/notesMaster" Target="/ppt/notesMasters/notesMaster1.xml" Id="Rf008fe78150446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912b30b4042af" /><Relationship Type="http://schemas.openxmlformats.org/officeDocument/2006/relationships/notesMaster" Target="/ppt/notesMasters/notesMaster1.xml" Id="R308ee1f0bd584a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b5896c5b5044fd" /><Relationship Type="http://schemas.openxmlformats.org/officeDocument/2006/relationships/notesMaster" Target="/ppt/notesMasters/notesMaster1.xml" Id="R93cc2f134b1d41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b211e067534cc8" /><Relationship Type="http://schemas.openxmlformats.org/officeDocument/2006/relationships/notesMaster" Target="/ppt/notesMasters/notesMaster1.xml" Id="R8ce166f611f74a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cde959ac04425d" /><Relationship Type="http://schemas.openxmlformats.org/officeDocument/2006/relationships/notesMaster" Target="/ppt/notesMasters/notesMaster1.xml" Id="R35f9117fb9594f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9b6d84fa1848d2" /><Relationship Type="http://schemas.openxmlformats.org/officeDocument/2006/relationships/notesMaster" Target="/ppt/notesMasters/notesMaster1.xml" Id="Rc4c267a1c52f4c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6f3442b1fd4522" /><Relationship Type="http://schemas.openxmlformats.org/officeDocument/2006/relationships/notesMaster" Target="/ppt/notesMasters/notesMaster1.xml" Id="Rd8bd4c9cbdea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31eed522446c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5CD4798-923B-41B8-A6E2-92957A5BF69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004F80-B5CE-49A1-AA2C-C6383D75FE9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2BE674-C234-44E3-8FB4-BB0C9605BB4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8E977C-DCCB-4A9B-B5BA-E276CC2265A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bb72e7fb12a45d0" /><Relationship Type="http://schemas.openxmlformats.org/officeDocument/2006/relationships/slideLayout" Target="/ppt/slideLayouts/slideLayout2.xml" Id="R5fc69699709b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9C74D8-CE76-4CF8-A188-2122B6204A9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69699709b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e90c33faf4322" /><Relationship Type="http://schemas.openxmlformats.org/officeDocument/2006/relationships/notesSlide" Target="/ppt/notesSlides/notesSlide1.xml" Id="Rafb6f658b5a3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05c320fd540ee" /><Relationship Type="http://schemas.openxmlformats.org/officeDocument/2006/relationships/notesSlide" Target="/ppt/notesSlides/notesSlide2.xml" Id="R260bba4289184d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a3bf8a67a94845" /><Relationship Type="http://schemas.openxmlformats.org/officeDocument/2006/relationships/notesSlide" Target="/ppt/notesSlides/notesSlide3.xml" Id="Rd758fef52c7e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6da818d15f44a6" /><Relationship Type="http://schemas.openxmlformats.org/officeDocument/2006/relationships/notesSlide" Target="/ppt/notesSlides/notesSlide4.xml" Id="R89c848173fc64d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166d204164a20" /><Relationship Type="http://schemas.openxmlformats.org/officeDocument/2006/relationships/notesSlide" Target="/ppt/notesSlides/notesSlide5.xml" Id="Rd931865c2f9d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503391c014f36" /><Relationship Type="http://schemas.openxmlformats.org/officeDocument/2006/relationships/notesSlide" Target="/ppt/notesSlides/notesSlide6.xml" Id="Rc6b16a7739b4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72cebb9e044740" /><Relationship Type="http://schemas.openxmlformats.org/officeDocument/2006/relationships/notesSlide" Target="/ppt/notesSlides/notesSlide7.xml" Id="Rbbec3acf2f78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ebdf7059c84d82" /><Relationship Type="http://schemas.openxmlformats.org/officeDocument/2006/relationships/notesSlide" Target="/ppt/notesSlides/notesSlide8.xml" Id="R717bece955e24b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1a5226ac94d61" /><Relationship Type="http://schemas.openxmlformats.org/officeDocument/2006/relationships/notesSlide" Target="/ppt/notesSlides/notesSlide9.xml" Id="Rd5e1418324a340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3674b13ab4b73" /><Relationship Type="http://schemas.openxmlformats.org/officeDocument/2006/relationships/notesSlide" Target="/ppt/notesSlides/notesSlide10.xml" Id="Ra8cd9622bc744c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3e7850f374590" /><Relationship Type="http://schemas.openxmlformats.org/officeDocument/2006/relationships/notesSlide" Target="/ppt/notesSlides/notesSlide11.xml" Id="R463e690253c244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971516dfb4389" /><Relationship Type="http://schemas.openxmlformats.org/officeDocument/2006/relationships/notesSlide" Target="/ppt/notesSlides/notesSlide12.xml" Id="R7f6508cd65654c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ffcdc1fb549e6" /><Relationship Type="http://schemas.openxmlformats.org/officeDocument/2006/relationships/notesSlide" Target="/ppt/notesSlides/notesSlide13.xml" Id="Re6e2c1962a7949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fdc54a7904f3b" /><Relationship Type="http://schemas.openxmlformats.org/officeDocument/2006/relationships/chart" Target="/ppt/slides/charts/chart1.xml" Id="Rc73c91b0d71e4dbf" /><Relationship Type="http://schemas.openxmlformats.org/officeDocument/2006/relationships/notesSlide" Target="/ppt/notesSlides/notesSlide14.xml" Id="Ra6c967ac77b14d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77edb37ee64897" /><Relationship Type="http://schemas.openxmlformats.org/officeDocument/2006/relationships/notesSlide" Target="/ppt/notesSlides/notesSlide15.xml" Id="R3d92b70b86d444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313b995804793" /><Relationship Type="http://schemas.openxmlformats.org/officeDocument/2006/relationships/notesSlide" Target="/ppt/notesSlides/notesSlide16.xml" Id="Rcc85d0ac315346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242e4194a64997" /><Relationship Type="http://schemas.openxmlformats.org/officeDocument/2006/relationships/notesSlide" Target="/ppt/notesSlides/notesSlide17.xml" Id="R00ba65f4a6194309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grouping val="stacked"/>
        <c:varyColors val="0"/>
        <c:ser>
          <c:idx val="0"/>
          <c:order val="0"/>
          <c:tx>
            <c:v>订阅</c:v>
          </c:tx>
          <c:spPr>
            <a:solidFill xmlns:a="http://schemas.openxmlformats.org/drawingml/2006/main">
              <a:srgbClr val="00D4AA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70</c:v>
              </c:pt>
              <c:pt idx="1">
                <c:v>55</c:v>
              </c:pt>
              <c:pt idx="2">
                <c:v>40</c:v>
              </c:pt>
            </c:numLit>
          </c:val>
        </c:ser>
        <c:ser>
          <c:idx val="1"/>
          <c:order val="1"/>
          <c:tx>
            <c:v>API / 按量</c:v>
          </c:tx>
          <c:spPr>
            <a:solidFill xmlns:a="http://schemas.openxmlformats.org/drawingml/2006/main">
              <a:srgbClr val="3B82F6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20</c:v>
              </c:pt>
              <c:pt idx="1">
                <c:v>25</c:v>
              </c:pt>
              <c:pt idx="2">
                <c:v>25</c:v>
              </c:pt>
            </c:numLit>
          </c:val>
        </c:ser>
        <c:ser>
          <c:idx val="2"/>
          <c:order val="2"/>
          <c:tx>
            <c:v>企业级长任务 &amp; 私有化</c:v>
          </c:tx>
          <c:spPr>
            <a:solidFill xmlns:a="http://schemas.openxmlformats.org/drawingml/2006/main">
              <a:srgbClr val="8B5CF6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10</c:v>
              </c:pt>
              <c:pt idx="1">
                <c:v>20</c:v>
              </c:pt>
              <c:pt idx="2">
                <c:v>35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E293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CBD5E1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FF30C-E233-45BA-84BE-6EE7691C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ED1C4-8BB8-45FD-AF76-9D99E357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A59EC-410E-437C-A0B1-B49FA9B7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6B9DC-F619-4B12-91B5-0D196D4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F7F32-2566-4774-8957-C31424FA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0416E-1984-484B-9587-1FC2503A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19A58-C98E-4B78-934A-1759C569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D52FE-24B5-4D43-A075-3D89BC9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0313B-82DD-4CA3-92D7-7E15E7D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26BD7-F96B-4AC2-8A4F-415344A3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6EB3F-F708-44C8-B2E3-F45B6FA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92739-A406-412D-86B1-20727D3D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85657-4235-4494-929A-CF2BE172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0DEC7-3053-40B1-8B3F-29074B73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E446-EEB2-416C-B04D-75CD3CD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66F3C-14F2-4191-894A-C2A8EDFC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EEE05-3020-4C74-8966-6E4F825C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3A2CB-39BF-4DFE-89A9-86F5F76E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66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B9F80-F6CC-465D-AA61-72E03B1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Ephemeral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C8F34-960E-48A6-911B-C8AFEBE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4AA"/>
                </a:solidFill>
              </a:defRPr>
            </a:pPr>
            <a:r>
              <a:rPr sz="1650" b="1">
                <a:solidFill>
                  <a:srgbClr val="00D4AA"/>
                </a:solidFill>
              </a:rPr>
              <a:t>Multi-Agent 原生的 AI Coding Agent 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3AEA2-569B-4A3B-8162-6BC05AF9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6905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让长周期、跨仓库、跨天级的复杂工程交付</a:t>
            </a:r>
          </a:p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第一次成为可规模化完成的事情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4AC95-9169-4C1D-9137-CBC527E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98145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A7E2D-AAF7-4741-887C-4BF57A17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98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288C1-E6EF-471D-A485-AEDCA61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商业计划书 ·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11312-77AD-401D-908C-1AAB73C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3238500" cy="3238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>
              <a:alpha val="80000"/>
            </a:srgbClr>
          </a:solidFill>
          <a:ln xmlns:a="http://schemas.openxmlformats.org/drawingml/2006/main" w="11430">
            <a:solidFill>
              <a:srgbClr val="00D4AA">
                <a:alpha val="5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56AA5-D72D-41DB-8A0D-A5E52C5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1576E-4260-4033-951A-7CBB80D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9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120"/>
                </a:solidFill>
              </a:defRPr>
            </a:pPr>
            <a:r>
              <a:rPr sz="1950" b="1">
                <a:solidFill>
                  <a:srgbClr val="0B1120"/>
                </a:solidFill>
              </a:rPr>
              <a:t>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7CB3D-8631-4DFF-A97E-5B9407B4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665B24-3CED-4D71-8517-CA9D2D8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193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Overlay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3C8F2F-FA98-4358-91C0-1FF50ED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716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56BB1-7ED5-414B-9FA6-33B23FB4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95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OCC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CDB077-771D-448D-9311-0A71FEB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E4558-2856-46F6-A2F1-1BF5CEB1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33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SkyEye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604669-9F2C-48EF-B8C0-0F351B6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862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5F44DC-B61A-41D1-90DD-0136E05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00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C507A-85D8-4ECD-996D-3BE0D41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7195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F50C2-24E7-411D-97C2-C5EA4D09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D6EDC-D124-410C-A24A-A0A25B0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CC041-B239-4C4E-B974-2B7735F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6ABF9-90CD-4906-9B09-B7A8B41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21308-A800-48CF-8CBB-77731960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81D70-81DF-4580-A245-732FD12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F9AF5-E99A-41D5-B958-FAB8DD96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4A62-6B19-4770-B964-5195D71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2A54E-374E-46F1-AFCE-40316E3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2D87C-2EB1-49E5-A9AA-EF77B1E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4AC00-7BC9-4CFA-ADD9-9D9C2A7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2BC72-0984-4270-ACEA-0C2FE8C6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AAA92-2308-424A-A065-79F6D46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DB5E-B206-4149-88EE-30713A5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FD9C6-E425-46DA-BB3C-AA0ED9A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11465-C5D0-4841-B17D-027E504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3BCF4-3CD2-4284-B996-3A0DD8C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EE83E-E9C0-4D48-B94C-7012749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行业痛点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7976E-40A8-4B3E-858A-D12C19F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编程爆发，但长任务与多 Agent 协作仍未解决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A9F3B-5C40-479C-83FC-5D512B1D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核心问题：多个 AI Agent 同时理解、拆分、编辑和恢复复杂工程时，如何避免上下文失真、冲突放大和整链回退？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974CE-7179-47B1-A5EE-44F6A0F5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583BF-67A7-466E-8336-45C7697C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32EC7-E067-474D-B4D8-410E059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18E95-0BE9-4042-9370-962D657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4444"/>
                </a:solidFill>
              </a:defRPr>
            </a:pPr>
            <a:r>
              <a:rPr sz="1275" b="1">
                <a:solidFill>
                  <a:srgbClr val="EF4444"/>
                </a:solidFill>
              </a:rPr>
              <a:t>长任务仍卡在 single-agent 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C2D40-D740-4694-A070-9DF130C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914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SWE-Evo 等长任务基准上，SOTA 单智能体约 25%。最难档任务接近 5000 万行代码与 2700 个 P2P 测试，已接近企业级系统改造量级。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AB46B-837F-4389-966B-69C5BDB1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7A3B2-686F-4AD9-9E03-3C936F0A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BB01C-34A4-427E-B366-DBBA665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P2P / A2A 通信带来协同税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460E5-1D0A-4877-9FB5-0195599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19400"/>
            <a:ext cx="2914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CooperBench 中 single-agent 约 50 分，换成显式 multi-agent 通信后回落到约 25 分。消息传递成为同步点，也成为理解成本。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70D93-0203-4B8F-8679-7BF664C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65846-30B3-4EA3-BB65-C73554F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6A86A-6AE6-4CF9-A07E-7D85B5E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</a:defRPr>
            </a:pPr>
            <a:r>
              <a:rPr sz="1275" b="1">
                <a:solidFill>
                  <a:srgbClr val="8B5CF6"/>
                </a:solidFill>
              </a:rPr>
              <a:t>并发写冲突把多 Agent 拉回串行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FBA0F-8285-4BA2-AC3B-628A338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2914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现有产品稳定并发通常 ≤5 个 Agent。多 Agent 改到相邻区域时，主要依赖 git merge，行级冲突会逐步吞噬并行收益。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65DDA-0B72-4410-BF24-0551777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9791700" cy="800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4288">
            <a:solidFill>
              <a:srgbClr val="00D4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827741-F1A1-4086-868B-3CF74BD0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57775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这不是模型能力问题，而是 AI 工程协作基础设施缺失问题。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F3949-28AA-408A-AA76-6A97F19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DC918C-6FA3-4A7F-BA90-76587259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866699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C3812-18FD-46E8-A86C-434FCD3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9C895-3B5F-4D65-A5CE-B0F7480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F21C6-BF3C-4610-9180-FC3AAF0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B0B43-F7F5-479F-A043-EDB0CBB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47CE3-F5EB-41CC-9F00-95F836FD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74565-A246-4B13-ABA2-BE94B6AD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CDA8D-DFE9-4E5A-986A-E335EAF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9ED7A-1D41-4B20-BA8D-D64409D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1FD99-E8B4-4BC8-B99D-7072C0B4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F17E7-AE9D-44E8-B5E9-DFAE390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556D8-2131-4394-BBC1-CBCB03C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58493-BDAD-4D14-AC88-27F31892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FB1B0-6F51-4FDA-B79A-628FDA7A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02DD2-01A2-4AE8-9A2F-6D11073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0D4D7-5139-4DA4-B576-56BCDA40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E56FB-C9D3-45A2-AC6A-5AF43501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CCE4A-09FA-4953-9699-AEAF4906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B1AC5-47E0-434C-A08A-8EB94EE6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市场规模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82949-D8D9-458C-84D9-B08B8CB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千亿美元级 AI 编程赛道，基础设施窗口已开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FE807-D340-42F3-86AC-D4EE5BF2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AI 编程正在从“辅助写代码”走向“自主交付工程任务”，多 Agent 协作基础设施会成为下一层平台。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406E9-9AF6-42A9-9633-2DA81EEC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66CD9-86F2-4C54-841B-9035A5C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4384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E93A0-0ED4-4DC9-93C8-4AB0F4F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57591-4E19-458D-A320-D5DF21B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$50B+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5060C-7F54-49A1-BD1F-4720E65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全球 AI 编程工具市场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09E36-9E4E-4DEF-B168-0D99D62C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2025 参考口径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02E52-3E7F-4AD5-98BB-BEADCE22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4384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8D6FD-66D3-471B-8529-C23E05FF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54BD0-EAFE-4ED0-9F1D-8D82B30A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955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35-45%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B4025-31DD-4575-9F7B-7EB953CE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AI 编程工具 CAGR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282C6-0C4D-485B-8230-402EE210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19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2025-2030 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0DCA1-1326-49F9-9AFE-FB630F8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384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4FD65-0FD8-4D9F-B005-0F124D6D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F0BF87-5ABD-43F1-BE01-2C4DFC4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$15-20B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EFFCA-FEA0-403A-B42F-A382CF0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企业级 AI 编程平台支出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64D8D8-292F-496C-AD24-C95960C7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2028 预测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4F8FAF-1652-4A0E-8690-3EC7D52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4384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A4BA56-0DCD-45CF-84AD-A409A8F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BF5B73-AD69-4E6D-9205-8257591F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$3-5B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2270E-1BE6-4B9A-B9DA-670754E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480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多 Agent 协作基础设施细分市场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F448BD-03AD-40F2-AADF-7C3348B3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2028 预测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E44AE7-C9D6-495F-84DD-029BE45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982200" cy="990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EB3627-3EB8-4207-AE8C-913BC011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4AA"/>
                </a:solidFill>
              </a:defRPr>
            </a:pPr>
            <a:r>
              <a:rPr sz="1200" b="1">
                <a:solidFill>
                  <a:srgbClr val="00D4AA"/>
                </a:solidFill>
              </a:rPr>
              <a:t>核心判断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B92B2-C777-4F31-B295-726DBA3A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941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谁能把长任务拆到足够细、把并发写变成可控流程、把失败恢复限制在最小子树，谁就能掌握下一代 AI 软件工程的底层。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70BEE0-0F92-40D5-A2B5-B9B0041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93B8B9-B5AE-4B2A-BCBD-E619BF73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428067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2D9C-E095-418B-91FD-F32017A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894D4-8673-4B49-B518-F56BB51B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CF4BE-87BA-49AB-A4E6-6C33800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6C7D-99F5-43C2-AD8D-5B04EBCF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0D80A-D034-4E87-90A1-C708D29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032FF-72AA-4677-BB83-072F562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68AAA-2CCD-4FB1-A11B-635C26E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5A179-3438-4BF6-A027-6FF746E5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4BB79-8385-4613-86EC-C72609C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59D3C-BD04-43DE-B6ED-6CC54B5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4EEFD-6205-411F-92A4-D132AD5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764D-A7D3-40B9-9F8C-16DC5F86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4446B-C5A4-47E9-A741-5ADF2C01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579AA-47CA-4417-8C3D-1B0D3B78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404D9-8E28-439E-A354-B0B4A39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42BAF-6842-4B5C-9430-5ADDC36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11D0E-B122-44B7-9566-25C0596D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74396-6664-43BC-AB9E-7BF2190E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竞品分析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33570-FA44-4492-BC5F-A3EE8AF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四种架构范式，Ephemeral OS 选择基础设施级解法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0DEBC-77DA-445D-A1E4-4FFDF64B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从 single-agent 加装 multi-agent 能力，会在长任务、并发写和失败恢复上暴露结构性边界。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05D95-DA17-46E2-8256-0D7B75B8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2ABF6-14B1-45AE-8B42-39C7063F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5619750" cy="2857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51707-B4F0-4FC8-979B-0B2D0BEB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527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A31DB-931F-4E65-930B-0612F41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90950"/>
            <a:ext cx="508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684AA-21D6-495C-B31C-84E7A9E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低并发安全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3F379-B73B-4514-9BCF-295CF67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高并发安全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F6323-E655-4C54-BB05-906A78F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339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低恢复能力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C3D194-DEF5-4027-8573-1261282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145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高恢复能力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5EB06-21F8-4A05-9CC6-5634651B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931726-3F74-43D8-AC26-1CA14834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Ephemeral 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23C91-57EF-4CFA-99C7-82238B6B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F8ACDD-50EF-4749-9073-B1746B0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12BFB5-624B-45AA-AFB6-82D86E8E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CE031-167D-4FC0-B319-29C01E7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95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Cursor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39886-4701-4465-9948-711E2F00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9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AB7FF-6BA9-4FB3-A8F4-2D65FD7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00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Devin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9BB2CB-4DE8-4AA3-AE29-42916314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19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2A4A7-61A4-4374-A527-12F33170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Codex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82DE16-379E-42D0-A563-422BF3C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BA11D-A5E4-45AE-9BE8-084EADD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01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OpenClaw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1E873C-1629-4102-8724-5D03758B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09800"/>
            <a:ext cx="333375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4D3FA4-0B15-4200-A2BE-DFA4A572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Pattern A  沙箱隔离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F31031-0C46-4C9E-A5C4-510F321A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</a:defRPr>
            </a:pPr>
            <a:r>
              <a:rPr sz="788" b="0">
                <a:solidFill>
                  <a:srgbClr val="CBD5E1"/>
                </a:solidFill>
              </a:rPr>
              <a:t>Devin / Codex / Jules · 回避共享编辑，不解决协作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6B08F9-325B-4951-BA74-0880391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9900"/>
            <a:ext cx="333375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280862-1835-4A3C-AC6A-0D1BD58D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Pattern B  模型信任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F058EB-9AA0-4896-AFF2-D45FDF4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</a:defRPr>
            </a:pPr>
            <a:r>
              <a:rPr sz="788" b="0">
                <a:solidFill>
                  <a:srgbClr val="CBD5E1"/>
                </a:solidFill>
              </a:rPr>
              <a:t>Claude Code / Kimi · 高并发下依赖模型自律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4F110B-B690-4039-98C6-C3BECE3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0000"/>
            <a:ext cx="333375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A19E9E-6460-42D5-B49C-B900CF1B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Pattern C  单体派生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5CEDC9-31FB-418B-81CE-EF262E6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338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</a:defRPr>
            </a:pPr>
            <a:r>
              <a:rPr sz="788" b="0">
                <a:solidFill>
                  <a:srgbClr val="CBD5E1"/>
                </a:solidFill>
              </a:rPr>
              <a:t>OpenClaw / Manus · subagent 缺少共享实时可见性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93EE59-F3C6-4E5D-BD8E-9BF47D59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0100"/>
            <a:ext cx="333375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069987-0FB8-428A-8930-4D3B07E5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AA"/>
                </a:solidFill>
              </a:defRPr>
            </a:pPr>
            <a:r>
              <a:rPr sz="975" b="1">
                <a:solidFill>
                  <a:srgbClr val="00D4AA"/>
                </a:solidFill>
              </a:rPr>
              <a:t>Pattern D  基础设施强制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6EF337-D5A1-41C8-8ACB-2C1AD4D0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</a:defRPr>
            </a:pPr>
            <a:r>
              <a:rPr sz="788" b="0">
                <a:solidFill>
                  <a:srgbClr val="CBD5E1"/>
                </a:solidFill>
              </a:rPr>
              <a:t>Ephemeral OS · Overlay + OCC + Replan 原生约束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8EC6D4-DD02-44D6-8455-DCD89B2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7D8AAE-7DAC-4BA6-91FF-D2FC7EC2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323035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F578D-87A1-49C7-A918-A415EF81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28E91-9580-477B-A1D8-B5296DA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C606A-D3FB-4773-8A51-4128196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64B87-C5EB-4FED-9E56-25133BF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6A6C8-78D5-4158-9C29-735308DD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1D1C-7005-4E86-A79C-C54E1B89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7C07-2530-4C40-864A-F52F8C6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913E6-CFF0-4ABE-B07B-85EAABF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B0406-CCBB-4880-9E68-901915AF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F5FB2-251D-4AD3-B5A0-00B97C67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37236-F517-4258-8966-3E568D1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70402-EC23-4011-B966-F0987B5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E8E5C-796A-4E32-A2E4-CAA298F6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2BF6A-A5FE-4B89-93B4-4BD33C6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740EC-77CF-42E9-BAA9-BC3B704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5CF23-8CA9-4DA3-9627-8AD0C9D7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4E771-7EE2-4211-AC89-3786B5A0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19AA7-C9D1-4663-ACCD-BDE43FB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竞品对比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D4E30-0877-4F8D-8225-70CD2D7E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现有方案尚未系统解决长任务与高并发协作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A592A-6B4A-472D-B312-5451E2E7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Ephemeral OS 的差异不是多一个 agent，而是把协作、并发控制和局部恢复做成运行时底座。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E8547-7B63-49B0-9918-55E8932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EF796-137A-4A37-8537-39E15E6A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A72F8-8B5D-476E-904D-CADA369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120"/>
                </a:solidFill>
              </a:defRPr>
            </a:pPr>
            <a:r>
              <a:rPr sz="900" b="1">
                <a:solidFill>
                  <a:srgbClr val="0B1120"/>
                </a:solidFill>
              </a:rPr>
              <a:t>对比维度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44100-0A05-4132-B3AB-AC498C1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B7B8B-F894-4BAC-A114-B463E05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120"/>
                </a:solidFill>
              </a:defRPr>
            </a:pPr>
            <a:r>
              <a:rPr sz="900" b="1">
                <a:solidFill>
                  <a:srgbClr val="0B1120"/>
                </a:solidFill>
              </a:rPr>
              <a:t>Ephemeral 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B09C9-9364-47E9-AE84-D949F19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145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724577-570F-4A5F-9D1F-D60DB6F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120"/>
                </a:solidFill>
              </a:defRPr>
            </a:pPr>
            <a:r>
              <a:rPr sz="900" b="1">
                <a:solidFill>
                  <a:srgbClr val="0B1120"/>
                </a:solidFill>
              </a:rPr>
              <a:t>Claude / Codex / OpenCode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3C202-D1D3-4751-BE92-EFE0F5D6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EBF10-9D2F-4B68-9E50-C143D3E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120"/>
                </a:solidFill>
              </a:defRPr>
            </a:pPr>
            <a:r>
              <a:rPr sz="900" b="1">
                <a:solidFill>
                  <a:srgbClr val="0B1120"/>
                </a:solidFill>
              </a:rPr>
              <a:t>Cursor / Devin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CEB5E7-B3D6-44AF-A4E1-F585604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F57DE-3738-4EEC-A1D0-791073E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120"/>
                </a:solidFill>
              </a:defRPr>
            </a:pPr>
            <a:r>
              <a:rPr sz="900" b="1">
                <a:solidFill>
                  <a:srgbClr val="0B1120"/>
                </a:solidFill>
              </a:rPr>
              <a:t>OpenClaw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E0AE7-5E5C-48AE-86CB-76DE9930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372F4-AB0E-4146-A716-76C4836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当前定位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9E4B4A-5E71-4DD4-977D-B47026CE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BBFA5A-0071-4F1D-996C-0378391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28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Multi-Agent 原生 Coding 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58FD05-0B6C-45DE-A1A5-544EFDF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7DE9D-DC15-4AF9-B3FE-927DFCC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Single-Agent + subagent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A1437-8EB3-4901-AD2A-EC6E53F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AB36E8-FB8D-47CC-BA51-E5A904F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编码 Single-Agent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93C087-3F3C-4543-83F4-FF41F8D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6FE37B-08F5-44B1-9166-D4D983E9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28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通用 Single-Agent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C0B556-F9E9-4FD7-96F9-CD31E2A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394F65-A420-487C-9FF9-313FC1A8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协作方式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94D023-E1A4-4069-95D6-24B5F457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E743AD-95FA-4EEF-A03E-1D5F5D4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242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天眼观测为主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507949-BA1F-4716-B670-D2836793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28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E394DF-CE57-4DF7-B106-D6A13AA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242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P2P / A2A 消息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FA2219-FAC6-4203-9A44-9046691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9985CD-ED5B-4C1C-B1C0-7BED380C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P2P / 顺序链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E7B424-9D91-4853-A7F8-11E0A02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9E93FE-AFD1-4E51-94BD-559D600C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P2P + 主 Agent 转述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037395-65E7-47E2-89EF-506727E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0CE94F-B8E4-400F-A838-B185BCA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任务切割粒度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2D38EB-B340-4348-A4AC-7E6F161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24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B9B15D-BB30-4936-A900-D9C08D8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接近原子 patch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7F1338-78EA-40FA-9AE8-108DCB1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B6DA24-6C9C-41D2-9229-425EC48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195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模块 / 服务级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4DB36E-8533-4454-812F-76F5064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EE436E-9D39-42B1-A236-1DAA773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模块级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81EAC9-064A-4D2A-961C-1C75610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BB3A95-0DCE-47C5-9D6C-B22A46D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模块级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F6B599-1242-4E3E-B535-1E83042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900CDB-CDE0-4150-B9D2-C0CA1A4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稳定并发 Agent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00272D-E008-4303-93A6-2092439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95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DDD2D9-5D9C-49D3-8D03-2420462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148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10+ 稳定协作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47B151-2F66-4917-81CF-202418F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95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07D51D-3FDE-4658-9001-A694D7E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148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≤5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A7C1F3-81A1-4679-A8CF-B3840464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9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F826D3-1BC0-4C90-ADE9-9854505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≤5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5F931D-3762-4AA5-8D57-B6BD617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BEC178-E9B0-4290-946B-F95793F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≤5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ACDCD9-5503-4362-AAB7-B13730B4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08ED6F-2AD3-45B0-94D2-CE324BE1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并发写冲突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738F91-1F61-4A21-B61D-BB86DB52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148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7D07C47-698C-473E-B1EB-F26F995F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Overlay + OCC + 语义合并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E7A7D8-B576-407E-9A9F-3965F13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148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A87E6E-69CB-4C78-A81D-1FA5BE1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101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主要依赖 git merge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DCB9331-7389-401B-AC8E-36A9BC8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7E9F61-1234-4911-968E-CFDD029B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10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git merge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17EB71-0C5A-4B9F-B17D-C2EBCE3B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C9953A-2E30-4F2D-B745-1B0149F7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0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串行化为主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3E01B3-8E75-4652-8B60-4D9DEFB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FA2F97-E6D1-4040-BC09-747A14DB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失败恢复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39B4FD0-C4A0-48E5-B4DD-809D9FB9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36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783CCD-BC5B-4F25-927A-632275D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054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局部 replan 最小子树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EE92C8-6AC6-49D2-A745-40D0387E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E0ABA5-8336-47C1-B74F-B3332AD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054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节点重跑 / 整链回退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1BD1B04-E838-4509-BF72-9FFFE282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101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2A9C81-28EF-425B-9D8C-AAA7FF3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05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整链回退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3876F97-7EF9-494E-A1D5-5812A2E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101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AF1A75-AA0D-4839-8EB3-6FEC4F5C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05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BD5E1"/>
                </a:solidFill>
              </a:defRPr>
            </a:pPr>
            <a:r>
              <a:rPr sz="840" b="0">
                <a:solidFill>
                  <a:srgbClr val="CBD5E1"/>
                </a:solidFill>
              </a:rPr>
              <a:t>整链回退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2A30CA-D342-4C46-AEB7-DD152D8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CC1990-6EBA-44EB-B9A1-4D08224C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639682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2E84D-3F48-4D38-89B7-057CC520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D233F-09BB-4C07-A9A2-04837FF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9A042-7209-43F7-A40B-6F7983F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33C54-95D3-4C56-ABEF-AD1CEEF6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93D8A-F943-498E-986D-E86B83D4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2CF23-9334-4E30-9E57-56C85F9C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5B450-7463-406C-903E-D35791BC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A2B1F-F0AD-4E98-92C5-EA2DD27B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7187F-DC0F-496A-8F8D-2EC1839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9F0D7-F027-4952-8C48-9855CE4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8890-AB4D-40AA-814A-D44776F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F60C2-2E11-476F-BCD5-B0C34BE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69A38-1396-4EBB-B802-5E1B1AB1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FED1F-E0BD-4CC1-BD35-B793935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18904-0461-4F7E-8862-DA7D96C0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53B35-CFB9-4289-8B52-879D14CB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CB049-D94F-4F33-8614-CBB88FF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8E09F-9BA9-4A83-B697-E9AF4CDB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我们的方案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FD0C9-6181-406E-B76B-E3EB3D4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Ephemeral OS：多智能体工程协作的操作系统层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DA33C-04FE-415B-8BDC-6535949B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用户输入高层目标，系统自动拆解、并发执行、观测冲突、局部重规划，并在任务结束后释放瞬态 Agent。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2D492-019C-4E09-9418-70F8C26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0DA04-4659-4779-A7E2-0322C9F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89535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2C835-88F6-4759-8AFF-65DF3A8F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574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Layer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F36FF-61C6-4154-A9AB-33E107E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瞬态智能体集群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403C7-73EC-4146-81A5-347A470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按需诞生 · 专注执行 · 使命完成即释放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DCA76-AB52-4322-BBC6-881C8F7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86106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7BCCA-2FEA-4891-806E-640A296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</a:defRPr>
            </a:pPr>
            <a:r>
              <a:rPr sz="900" b="1">
                <a:solidFill>
                  <a:srgbClr val="3B82F6"/>
                </a:solidFill>
              </a:rPr>
              <a:t>Layer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9C7D7-439A-4F04-94B8-AD45C56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Overlay 共享沙盒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7D1AA-087B-4726-8382-747D91A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共享只读 base + Agent 私有可写 overlay + CoW 回滚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B0177-AE7A-45D9-8EE6-396752C0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82677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3335">
            <a:solidFill>
              <a:srgbClr val="00D4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A7ACA-D0B0-46D5-9F75-9D863FFB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290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Layer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A81D8-77C7-40A5-B49D-5F371FAB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OCC + 语义合并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6C22B-B1F5-4460-A6B9-B7D0B7C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文件版本校验 · AST / 符号级合并 · 裁决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4F13D-FEC4-43B2-9D83-EEFB78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79248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3335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70908-3F6A-4EC6-88AB-22986FA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148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Layer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C967DD-0B15-4682-A470-9A9B5D1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天眼系统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6C1C7A-FE71-4375-A34C-F055579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动作、产出、依赖与冲突实时呈现，环境即上下文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3BF99D-6865-4A3C-B824-15E3DAD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75819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9F7107-81FA-4E44-8749-9D0167EB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Layer 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22612A-C9EF-4853-B73B-236B514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530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Tree-of-DAG + Replan Harness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17016B-263A-4AD0-A724-C7836FAE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9110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递归拆解 · 依赖调度 · 最小子树局部恢复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91C57D-3143-43C6-A52D-4E5DE56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514600" cy="2286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947772-6865-4954-A54F-5BA37A2D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D4AA"/>
                </a:solidFill>
              </a:defRPr>
            </a:pPr>
            <a:r>
              <a:rPr sz="1725" b="1">
                <a:solidFill>
                  <a:srgbClr val="00D4AA"/>
                </a:solidFill>
              </a:rPr>
              <a:t>模型中立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1B246-3987-46F0-9110-60934D7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00D4A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C68BED-C1B1-416F-B364-97B719E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</a:defRPr>
            </a:pPr>
            <a:r>
              <a:rPr sz="825" b="1">
                <a:solidFill>
                  <a:srgbClr val="00D4AA"/>
                </a:solidFill>
              </a:rPr>
              <a:t>Claude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1ED9C0-EA9E-4722-B6C0-905D0211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2420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98AC81-A304-4D9D-B4AE-99398014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908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GPT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FBCDDB-FE59-4C3C-8ABE-86D90566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00D4A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52FADA-9B2A-4AA3-982B-91121D7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2902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</a:defRPr>
            </a:pPr>
            <a:r>
              <a:rPr sz="825" b="1">
                <a:solidFill>
                  <a:srgbClr val="00D4AA"/>
                </a:solidFill>
              </a:rPr>
              <a:t>Qwen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614E1E-DBF9-4A00-9F3C-68DE93D8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0C4DF0-F0D6-4235-8C30-F656CB55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2902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DeepSeek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D59CB9-6243-4304-AC76-16C78522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00D4A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221BC9-6B63-418F-B914-8BDF744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671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</a:defRPr>
            </a:pPr>
            <a:r>
              <a:rPr sz="825" b="1">
                <a:solidFill>
                  <a:srgbClr val="00D4AA"/>
                </a:solidFill>
              </a:rPr>
              <a:t>Kimi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D08BE6-6F3E-4AEA-A953-06671DC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781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4B654F-ADE2-44AF-ACBD-22A64AA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671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Minimax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C48340-A157-4B6B-9491-7AD4EF4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云端 SaaS + 本地私有化双模式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A3D004-25C5-43DE-A244-3E5F7EA7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11C316-51FD-448B-AC4A-08DD361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152842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E2D29-6157-4120-B5BE-2FEE9DB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F2D07-4B80-472F-850B-1A3AEBA9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E6565-5D97-4BE7-976D-1406A39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52EF3-723C-40C2-8322-5C1910E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5491B-B227-425A-8AB7-40AA9D8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4F0D-51A5-46FF-94BA-E8A29B3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3FD4A-2BB7-4DAC-9B62-95A6A78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0E5B6-F93C-450F-995D-38492D12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9B9C5-48F5-4BD5-B078-3C52306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0FC1B-8939-47F2-822D-03B115F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C795A-CBF8-456D-9AAB-D698A68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4B683-6958-4763-8360-3DFC6C07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2A70A-4C3E-46B6-8AE5-9938099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2FAFC-7C74-4B3F-A525-B9AC09D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24B29-FD46-450B-82DD-91A19AB0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D68A0-2DF9-4F93-97F3-2F3AD9F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804C3-7C52-4518-9B92-F2C3CAA1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25286-9D19-47B4-99AC-6FD230C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技术支柱 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98101-03ED-431F-9B5A-C36D4D4B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Overlay + OCC：下一代 Git Worktree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3A67C-4CD8-4D79-89B6-37C8231F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88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不是给每个 Agent 开一个完整 worktree，而是一层面向瞬态 Agent 的可叠加文件系统与并发控制运行时。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55160-3C5B-4E2F-865C-09174D1D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59058-42B7-4E88-A060-FB71E9AC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47650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91EA4-DF21-4053-9B7C-13CE76E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DB526-F12F-4013-97FB-FC156E0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82F6"/>
                </a:solidFill>
              </a:defRPr>
            </a:pPr>
            <a:r>
              <a:rPr sz="1275" b="1">
                <a:solidFill>
                  <a:srgbClr val="3B82F6"/>
                </a:solidFill>
              </a:rPr>
              <a:t>文件系统层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55A7B-C943-4AC3-B06F-86D93B4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057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共享只读 base layer；每个 Agent 派生轻量可写 overlay；读取按 overlay → base 穿透，秒级创建、秒级回收。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F463E-3330-4258-8778-EC1BB2C0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47650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BD700-6883-48D4-B359-8461843E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D742D-69EA-4BB7-AE59-86DCE61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4AA"/>
                </a:solidFill>
              </a:defRPr>
            </a:pPr>
            <a:r>
              <a:rPr sz="1275" b="1">
                <a:solidFill>
                  <a:srgbClr val="00D4AA"/>
                </a:solidFill>
              </a:rPr>
              <a:t>并发控制层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E64EB-5C17-432B-8BC4-936561F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19400"/>
            <a:ext cx="2057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多个 Agent 不加锁自由读写；提交时进行 OCC 校验：读过的版本号与当前 base 是否一致。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0DC74-D201-45ED-8D3B-EDCB8ACE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47650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68CE9-46C1-493D-AA3D-428589D4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139F8-B422-49A9-835E-5BBC7143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</a:defRPr>
            </a:pPr>
            <a:r>
              <a:rPr sz="1275" b="1">
                <a:solidFill>
                  <a:srgbClr val="8B5CF6"/>
                </a:solidFill>
              </a:rPr>
              <a:t>语义合并层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F1D370-E60D-4E23-97DE-EC5BC79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2057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超越行级 diff：AST、符号表、语义引用层判断是否自动合并、轻量裁决或上交重规划。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27D84-29D5-4866-9CC8-D8DCB97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47650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31D35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6F76E-8700-40FE-96B4-EFAA93D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7F975-2843-4736-9E97-B176AF6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可观测层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D6283-B52B-49E5-B1B3-0F00BBA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19400"/>
            <a:ext cx="2057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读写、版本变化、OCC 冲突、合并决策都被天眼实时捕获；Overlay 同时也是事件总线。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D75F64-7F0E-47BA-9A70-E20F3352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90678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21297-1DFD-4223-BCEF-D623E8A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护城河：分布式文件系统 + OCC 并发控制 + 语义代码理解 + 实时可观测性的端到端咬合。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2609AF-AB8C-4A53-B591-1ABCEA8A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72AF35-1E57-43D0-BA12-DE45FA4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845861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78DE7-0EA9-49B4-BCEF-E8F479B2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EC6FF-538A-4C2E-AE22-D2C9A48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5C414-EBE6-4284-A1C2-D67C249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FF7F-E5A8-416E-BA14-1C53D07B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145B3-2198-4370-9858-9718C341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62E8C-F7C0-42BB-860A-34476BB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39452-BCF1-4D62-921F-78BE6C6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8EAB-BE62-4513-B151-0064952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1746B-762A-451D-AA4A-45040D6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623BC-39B4-4661-A1FF-D6311F20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F0EFA-4F7A-42DD-8E0B-E3FA18B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D6C42-F1B7-4796-B2CB-709129A9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C48E-F4CD-49F4-A12D-312CEE74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50FB6-4C9F-429C-B88D-79E726B5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9A0B4-5B42-47F4-9BC3-0690455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C8A5F-7F51-4E46-BEE9-97772FA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B69A7-C04A-4467-8EE8-C696D46F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2C001-DC48-4164-B06D-8768B262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技术支柱 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0F452-78D7-4D42-82C7-A75B97C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Tree-of-DAG + Replan：长任务可以被“修”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3F761-4E16-4095-90A3-A9F60E7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每个节点本身可以展开为子 DAG，失败时只在最小可能子树上重新规划，已成功分支保持不变。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9B358-D8C2-4087-A624-2E259C7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59E76-35B1-4A1A-B193-DBC409C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0E1CE-E684-49C0-A3CB-98E22695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813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EDF15-E29E-4290-880F-F7E57A55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82B89-0514-4A65-B9AD-995AE95E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479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前端 DAG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8FD72-A4A6-4A77-9AF8-263021B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E5CE2-6917-4A76-909E-D53FB7CC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147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后端 DAG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A2655-E747-46F6-AEA5-D80F7D25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CDEE7-7AC4-4A3C-AA1F-1A02290E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479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测试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75643-ED56-448F-9A24-16D3C1D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AB79A-150C-4CC3-A230-BA85B17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47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审阅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69FA1-FE91-4F63-8DFD-48EFEBC5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2192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4AA9A-683D-4324-94CC-2F7F9C40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交付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A6A57-2032-441C-BE93-0163FB80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670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E38CA-0ED1-438E-8E13-67885A27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28875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3D9F54-7793-488E-BABE-E05DEBEE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95675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E9B40C-8FB2-4A16-A8B4-9A1FF93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67025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FDBC8-BA14-4018-976A-EB81129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86250"/>
            <a:ext cx="3067050" cy="723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B1D0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3DB52A-05C6-4A42-B7FB-23110902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Replan Harness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342DEA-BC55-423B-8393-2C6AA4D6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244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</a:defRPr>
            </a:pPr>
            <a:r>
              <a:rPr sz="900" b="0">
                <a:solidFill>
                  <a:srgbClr val="CBD5E1"/>
                </a:solidFill>
              </a:rPr>
              <a:t>失败节点触发局部 replan，结果合并回父 DAG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7AB32-38B2-438F-BA5C-A0B89A3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571750" cy="723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E24CAA-D062-465D-9729-C059114F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4AA"/>
                </a:solidFill>
              </a:defRPr>
            </a:pPr>
            <a:r>
              <a:rPr sz="1275" b="1">
                <a:solidFill>
                  <a:srgbClr val="00D4AA"/>
                </a:solidFill>
              </a:rPr>
              <a:t>粒度更细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0C7CB0-25AE-4D44-8093-3877593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递归展开到接近原子 patch。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9A875B-3E2A-406F-8B6A-FA9C6A01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67300"/>
            <a:ext cx="2571750" cy="723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80D39E-931D-4A9F-ABAE-EF20CB12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197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82F6"/>
                </a:solidFill>
              </a:defRPr>
            </a:pPr>
            <a:r>
              <a:rPr sz="1275" b="1">
                <a:solidFill>
                  <a:srgbClr val="3B82F6"/>
                </a:solidFill>
              </a:rPr>
              <a:t>并发更高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9978E9-8B64-425E-8AE2-32A46F5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无依赖节点同时展开为 swarm。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1ECA4B-A311-4F52-8D3A-CF224A5C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2571750" cy="723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8CB6B3-F8B9-4697-95B4-57DCD36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恢复更局部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ED3A12-E46C-4FF7-AD26-A2EBB3D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replan 代价只与失败子树大小成正比。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279734-2168-4125-B3B1-F8BB54F1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43C20F-A261-4A65-8BE7-0ABDD07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585177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2F9A-33D0-4601-B1C7-B42E41FB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4F8E7-0482-4470-938B-BEA7A64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27374-036E-4921-9A1D-157FC7C8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33384-BFAB-47F9-988D-2BB3900B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B938B-BA9E-4624-ACA7-5A2F9EF3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8B64B-4E96-4A36-A2DB-D2048C62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FABBC-B4B1-484C-A29B-EB0E98F0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E9DFD-056C-4332-90BE-EE17AB5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4D2C1-A2FA-4469-8C5C-EF157A7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D1E55-52F1-4837-9337-FB1D55C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21440-48D2-4FA9-811E-BC314CA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C6F5E-9BB9-45D1-BC24-F926BA8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C4C1A-46A8-4BC4-900B-166630D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31D6B-791E-4082-BF6A-7B82835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59302-632E-4AA8-9D9E-D9AF9FB9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B6E39-E34B-4A5E-910C-77B20D74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C56BB-0F86-4273-ADB4-64F0B9A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41CBA-FB14-40BA-AEF1-9BCBA18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技术支柱 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6D770-80FF-4CD1-8B72-C1D80DA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天眼系统：让 Agent 不需要被告知，而能直接看见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8CD2C-C441-42F0-951C-EB003B8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把显式 P2P 通信转化为实时环境观测，显著降低同步开销和上下文浪费。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3195A-F2FD-470A-8E41-29B4A8B1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CD668-0A60-4E0B-8ED0-8868B3E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35"/>
          </a:solidFill>
          <a:ln xmlns:a="http://schemas.openxmlformats.org/drawingml/2006/main" w="1905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CA4C6-238C-434D-B5A8-AB13D8F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SkyEye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BF5D4-8C4A-432E-9362-B777D61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52700"/>
            <a:ext cx="18859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026BC-5827-40EA-B786-41D7C342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DC8BF-75AE-42E7-80CA-7F9A2940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shell / edit /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5B77E-1269-4239-8E97-3A08A24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18859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D7522-D45B-4513-87D6-36F718C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F52626-3E2C-4016-9710-82DC63B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patch / artifact /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B4D77-EAE5-473A-9084-61F53862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67200"/>
            <a:ext cx="18859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6B6E75-DF2B-40D2-B567-67F3E98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依赖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82101-2734-451A-9386-722DC2F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863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task graph / readiness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7EF43-5E03-4E4B-80D3-C78AC468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18859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885D2-17F5-4A29-BDEB-CF689CFD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冲突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2706D0-1913-4DC5-B55A-A6AABAFF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OCC / semantic merge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12E77A-A9C4-4817-9570-72C710A6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1940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2FF332-8357-4970-B563-3F619C9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37A7AA-F0E3-4CFF-876C-3BC3CDFD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3390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EA92E-51DE-4BA1-B082-839B39D2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723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9013B-3C9A-4221-B44E-0A8C95C6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115300" cy="533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0850D4-2FA0-441F-BEA4-941FF97F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81625"/>
            <a:ext cx="754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环境即上下文：Agent、调度层与审阅层共享同一个实时状态面，而不是依赖不断转述。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A105A5-4247-4164-BAA0-D57FAC7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31160-6490-41BB-B59D-7A862F35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561776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D922F-C1E1-47B9-8FD1-671978F1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78161-F802-4EFA-8DBC-B21820B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69C10-BE28-4EA0-8600-E073645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23B5-F448-4117-AF26-F1100E0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D13B-E64F-44C7-B61E-1C01680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CE03-8EBE-4CB3-B5E6-B3177C2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998D7-B5ED-4A13-B33D-86C8EC0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9C2A4-B4EF-4070-82EF-DD4E5157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473EA-9EB0-4735-9211-0B1FC7A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145AE-A911-435E-9AB2-9B25D0B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336E5-2651-4A2B-BE70-841477EA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CF1B3-6B4E-4667-BAC5-09361BFF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224C8-5BA3-4338-AE64-2F31F1B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0BA2-B705-45A5-8084-E6F21F26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5481F-AE90-46D4-B928-58943BF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00603-93E6-451E-95A0-2C19555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B3B25-C774-4079-B4DE-76E0C08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14898-B015-47FF-90C1-D9DABDB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核心优势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39426-12C4-4476-A0DE-29854CFA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六大维度构成系统级领先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37E1B-04A6-432D-9DB9-75D61A8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Ephemeral OS 不是把多个 Agent 放在一起，而是从运行时层面让多 Agent 能长期、并发、可恢复地协作。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39BD8-75CF-4429-8A71-259E16C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B3E04-D4CB-44C7-8816-A336E759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D835-FB00-4FE4-9FE9-153E4C3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并发能力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C0FFC-8048-4DFC-BA37-0BA62AC0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D4AA"/>
                </a:solidFill>
              </a:defRPr>
            </a:pPr>
            <a:r>
              <a:rPr sz="1200" b="1">
                <a:solidFill>
                  <a:srgbClr val="00D4AA"/>
                </a:solidFill>
              </a:rPr>
              <a:t>★★★★★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10A1D-CE90-4F71-A6B7-F19480A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10+ Agent 稳定协作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7AD3B-D912-4178-B42E-2B42504A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5D1F9-6B8F-40E4-BD93-8BBDD70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长任务恢复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D27BB-C39A-46C5-AB58-DD3B62C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★★★★★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26A58-E28F-4768-BDA4-C34FBD6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Tree-of-DAG + Replan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BDB68-0B8B-4BD8-A6D8-1F1EDFE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48099-2D50-4A6C-BFCF-96BD2F9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任务粒度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05D9B-2D90-4B47-AA9A-A869929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57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B82F6"/>
                </a:solidFill>
              </a:defRPr>
            </a:pPr>
            <a:r>
              <a:rPr sz="1200" b="1">
                <a:solidFill>
                  <a:srgbClr val="3B82F6"/>
                </a:solidFill>
              </a:rPr>
              <a:t>★★★★★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24DF2-36BF-4678-AFBB-91AC49C6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接近原子 patch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8876B-E1F2-438E-84C1-7832761C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D8A20-702B-49C5-AADA-789E6C78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并发写安全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36E967-EE04-467F-8917-A172D36D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★★★★★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F7C793-5D96-459A-BCD4-17314EA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Overlay + OCC + 语义合并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295087-50A3-4ED3-85BA-BC3F4D78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D13E2-CD18-431A-9D93-4889697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协同开销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187A76-AB9C-4A5A-83E7-4530B78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B5CF6"/>
                </a:solidFill>
              </a:defRPr>
            </a:pPr>
            <a:r>
              <a:rPr sz="1200" b="1">
                <a:solidFill>
                  <a:srgbClr val="8B5CF6"/>
                </a:solidFill>
              </a:rPr>
              <a:t>★★★★★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79C3EE-E2F6-42F8-B8BF-38726F7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天眼观测替代显式转述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2C14D-4863-40B4-AF6F-AAC98C3E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3257550" cy="1123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FC30E7-3BF3-4087-BDC9-E5E256C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模型中立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C43963-9A17-4D8D-8B4F-FF5D86E4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86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D4AA"/>
                </a:solidFill>
              </a:defRPr>
            </a:pPr>
            <a:r>
              <a:rPr sz="1200" b="1">
                <a:solidFill>
                  <a:srgbClr val="00D4AA"/>
                </a:solidFill>
              </a:rPr>
              <a:t>★★★★★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D1D85E-7D1D-4BBC-8CAF-20EAAC6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Claude / GPT / Qwen / 开源模型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AFB08D-43EA-4993-A25F-04A483D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476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5F6665-935F-4559-A8D6-041EB62A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00675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35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组合优势：Multi-Agent 原生架构 + Overlay 并发 + Tree-of-DAG 调度 + Replan Harness。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7E911B-9096-4571-A470-91CCBFF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621360-3EEE-4B65-BEC6-D30E14CD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1763306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EEE7-0981-42E2-AE2F-619308C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2F1BE-8B7D-4A0C-A021-C1BF6B6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894F4-9FA5-4154-8C23-294DE918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A5345-535E-4514-A69C-2FAFE2A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2705D-2DDD-40CC-8366-38FB669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A2EA8-1973-4306-89A6-F546D85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B9129-4126-4355-BF79-971BD0F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7D2D2-E11C-4CE5-BCE4-8AA126E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B6919-FA7B-4584-96A8-C5C47BD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93C55-B045-4BF1-8496-AF745A5C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38D29-21E9-4A39-A063-C943273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7D61E-FA8C-44FA-9BD3-BE2BCA9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A3DCF-36DE-43C0-806C-7D798A9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BDC86-8A74-44A8-99A2-4C6DBE15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29742-520C-45E0-948A-47AB367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CD292-CCF4-449D-823F-1B77072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32D88-B12A-4E19-B8D7-57749228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55A26-AB6C-4E78-86AF-D369BBE8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长期愿景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78DC4-FCD7-4B66-B28B-C0CE52C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从 Coding Agent 走向通用 Agent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AE15F-B31F-47EC-991F-B3A11F6F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通用 agent 的底座，本质是 coding agent + 工具适配层 + 沙盒；底层协作能力越强，通用任务天花板越高。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0C1C8-64BF-483C-B788-7955752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21542-7863-462C-B1C4-ABDB25C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762500" cy="2724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98AFA-2DCC-4483-A274-55D949DC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444"/>
                </a:solidFill>
              </a:defRPr>
            </a:pPr>
            <a:r>
              <a:rPr sz="1650" b="1">
                <a:solidFill>
                  <a:srgbClr val="EF4444"/>
                </a:solidFill>
              </a:rPr>
              <a:t>pi-mono / Single-Agent 底座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BA55B-E31C-4C06-9C61-5B6FB2CF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• 规划、执行、反思挤在同一上下文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A65B6-58C6-4DC3-BA56-BE64799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• 派生 subagent 仍依赖主 Agent 串行转述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45541D-0279-4408-B37B-36BC982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• 长任务越长，上下文管理成本越高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D611C-8FB9-4A8E-BA9F-87DDF1F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• 共享沙盒与实时可见性较弱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304DF-045A-44B4-BD7B-4281A14C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762500" cy="2724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ED109-8453-42A8-B0D9-C34D63AE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4AA"/>
                </a:solidFill>
              </a:defRPr>
            </a:pPr>
            <a:r>
              <a:rPr sz="1650" b="1">
                <a:solidFill>
                  <a:srgbClr val="00D4AA"/>
                </a:solidFill>
              </a:rPr>
              <a:t>Ephemeral OS / Multi-Agent 原生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00CF2-27DC-413D-B574-B672B21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每个瞬态 Agent 上下文独立、保持干净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0F8C3-F0B3-48C9-9634-AE09D3A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天眼让环境状态成为共享上下文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D96BB-B94E-4CED-8EAE-11A80666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Tree-of-DAG + Replan 获得结构化恢复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43BCB-E9CA-4665-8730-1ED57CB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• Coding 内核可扩展到通用工具编排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D65806-41DB-4875-8FB9-80F9399C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3A3994-2EC5-4D4C-B99F-A444065B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83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我们希望走出的不是“AI 程序员”，而是“AI 工程协作系统”的基础设施平台。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899C8-3701-4309-9FAC-6305A85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B8CF9-C79A-4392-9121-3E54160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522861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E0A32-9DE5-4D57-8492-6E61BE62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ADC13-661D-4089-98E4-FEC06850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F676-849B-4B8F-9ADF-EF52BCE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8E9D6-8CEE-45DC-A9BE-F216A1B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E3C91-4C4A-4285-BED3-0DF55E1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19DE3-DB16-4941-8C35-00BC1E0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274D8-B4C5-4461-9700-E10F97C2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583E1-7403-41A5-802A-07981ED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77622-5707-4DB4-A2F0-263EA2D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C078E-95C1-48ED-A915-18D1E3CC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4A78B-2C4D-4172-A88C-25FF651B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A104C-096A-432F-B6A2-F7CF717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6F244-672A-46D6-833C-1E63CEB6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5974B-FE04-4F58-BA5F-18D2CE0B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F0E43-E91B-4B41-858E-3106265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836AD-D9E7-45AF-A3EB-2500A54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7D940-6ABE-415D-8C0C-470210E3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6C916-3A5C-4911-9B3C-D65F096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目标市场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B47E3-F9A4-4824-8867-D9764E2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主攻复杂长任务交付与企业级协作场景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607FA-5F9E-4969-B404-9829D8B3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从软件工程中最可验证、压力最大的长任务切入，再横向扩展到通用 Agent OS。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6E4A8-2C5D-47E5-AF74-0344719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485A1-B6DF-4EC2-8A95-6A786E8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953000" cy="121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78E86-D059-4845-B0F3-7CF021B2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D4AA"/>
                </a:solidFill>
              </a:defRPr>
            </a:pPr>
            <a:r>
              <a:rPr sz="2250" b="1">
                <a:solidFill>
                  <a:srgbClr val="00D4AA"/>
                </a:solidFill>
              </a:rPr>
              <a:t>T1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AEC60-84F6-41BB-8CF6-CC5F0F7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955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中大型科技企业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26BD7-A739-4B5F-8F13-581C3AE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0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跨仓库重构、系统迁移、存量现代化、合规改造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E0182-6D11-4C0B-8B6A-CA13DD5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企业长任务交付 / 私有化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F9C61-CC8D-4817-8DFA-2A6D715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4953000" cy="121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8145B-CBB9-4658-AD00-6F20330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5CF6"/>
                </a:solidFill>
              </a:defRPr>
            </a:pPr>
            <a:r>
              <a:rPr sz="2250" b="1">
                <a:solidFill>
                  <a:srgbClr val="8B5CF6"/>
                </a:solidFill>
              </a:rPr>
              <a:t>T2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F5DEA-0A33-4C4E-AA04-A58F1603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合规敏感行业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F713B-1EC1-4A9D-A001-5AFECFA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金融、政务、医疗等需要隔离、审计、私有部署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5BA8E-BE39-4478-BFDD-68B86CE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</a:defRPr>
            </a:pPr>
            <a:r>
              <a:rPr sz="900" b="1">
                <a:solidFill>
                  <a:srgbClr val="8B5CF6"/>
                </a:solidFill>
              </a:rPr>
              <a:t>私有化 + SLA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7D457F-883E-4AB1-8885-8B7C9A6F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953000" cy="121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2922CC-00BD-4D48-815F-34C4B43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82F6"/>
                </a:solidFill>
              </a:defRPr>
            </a:pPr>
            <a:r>
              <a:rPr sz="2250" b="1">
                <a:solidFill>
                  <a:srgbClr val="3B82F6"/>
                </a:solidFill>
              </a:rPr>
              <a:t>T3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5080E-2194-46E8-99C5-4D4BBC5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AI-native 工具公司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FAD0C-5171-42B1-92C0-92AF49A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把多 Agent 协作能力嵌入 IDE、平台或内部工具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8A8C2-C4AD-4FD0-82F2-73DB848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</a:defRPr>
            </a:pPr>
            <a:r>
              <a:rPr sz="900" b="1">
                <a:solidFill>
                  <a:srgbClr val="3B82F6"/>
                </a:solidFill>
              </a:rPr>
              <a:t>SDK /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49A879-5655-4F1E-A9B5-E65D987F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4953000" cy="121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BB72F-A2E5-4559-A14A-3C0ED43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T4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72D2C1-BF71-4955-B4B4-A5C3E83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67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开发者与开源社区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DCFEF9-B6D5-4DA0-BB51-07C0CDA2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BD5E1"/>
                </a:solidFill>
              </a:defRPr>
            </a:pPr>
            <a:r>
              <a:rPr sz="1013" b="0">
                <a:solidFill>
                  <a:srgbClr val="CBD5E1"/>
                </a:solidFill>
              </a:rPr>
              <a:t>个人开发者和小团队体验、反馈、传播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4E0F1-216B-4ED9-BB37-9418161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43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SaaS / 社区版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F56B73-9FF4-49D7-8BBC-A9F97CB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4F5756-8C97-4271-89E2-C22F508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769885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218F0-975A-476D-BBA5-51C0CF80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15662-D9FF-4D0D-AB5F-7A93D87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BF82-8D6F-4FB6-B211-C89274CB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7B060-D743-4E6C-8870-B8A3AF9F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636C3-AE10-48A8-9C33-6E8A95A9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4EC98-FFBD-4E71-AA2C-CFFBD83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18AFD-4888-4259-A2C6-8FDEC3CB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393B5-580F-47EA-B9D9-7F56F635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00BD3-3D2B-4582-8B01-AACCBA40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FFCB-6A79-4E74-9D28-1B418B4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4BCDB-ABB2-4FB2-B270-16868A3F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F5DAE-373B-4891-9843-5E56493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C2A09-74AF-4414-A0A7-F2929342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53F5D-E2E1-42A7-B94A-0B3C059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2D2C6-BD60-47DD-90AA-37FF2629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C0B60-BAA1-4B9E-8190-A84878C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23115-39DB-4F30-9FED-4E66C30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B5D15-71E3-4DCA-885E-04D57853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商业模式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47EE1-2804-410D-822F-BA52830B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SaaS + API + 结果交付式企业服务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C7B91-75A2-4359-B730-255B715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以复杂长任务市场为商业化切入点，ARPU 高于纯订阅制，并可通过私有化部署进入合规敏感场景。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87648-4B95-4CC5-BAF8-1A7EAE7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30358-A163-434C-A54E-3D2052C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0DF00-01F3-4FDD-9C8D-EFA9FF2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D4AA"/>
                </a:solidFill>
              </a:defRPr>
            </a:pPr>
            <a:r>
              <a:rPr sz="1425" b="1">
                <a:solidFill>
                  <a:srgbClr val="00D4AA"/>
                </a:solidFill>
              </a:rPr>
              <a:t>订阅制 SaaS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17E25-644C-4423-A515-DC176BC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962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个人开发者、中小团队使用 AI 工程协作工作台；覆盖日常任务和轻量团队协作。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8A31D-F732-4D8C-8618-223FB206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A2E8B-337D-4557-AFB8-E7AA1AF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2026 占比 70%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3954C-3FC6-4F47-9A75-54EF803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AC49B-C520-4A3E-93B0-1AA10F7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B82F6"/>
                </a:solidFill>
              </a:defRPr>
            </a:pPr>
            <a:r>
              <a:rPr sz="1425" b="1">
                <a:solidFill>
                  <a:srgbClr val="3B82F6"/>
                </a:solidFill>
              </a:rPr>
              <a:t>API / 按量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2C3FD-07CC-4643-AD1F-7AA17969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962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按 Agent 时、任务调用量或平台嵌入计费，服务 AI-native 工具公司。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2CD54-2430-484D-BAFE-F67B6766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23330-A042-4779-B8FF-A5D6B1C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2026 占比 20%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3BBF15-83C9-4E65-8742-B901E203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AA877-24F8-43EA-A273-79310CE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</a:defRPr>
            </a:pPr>
            <a:r>
              <a:rPr sz="1425" b="1">
                <a:solidFill>
                  <a:srgbClr val="8B5CF6"/>
                </a:solidFill>
              </a:rPr>
              <a:t>企业长任务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A1E6B8-DEBE-40C2-8AA5-DE7E9DC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962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跨仓库重构、迁移、合规改造、存量现代化，以结果交付计价。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3A1B59-D2D9-44AF-B9AD-4B299757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3E3DE-AF17-42D8-B13F-9CB13ED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2028 占比 35%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8BDFA-726D-429C-8B14-E0BFAB0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0CE2C-CA60-4AD1-9CC5-FE63970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私有化部署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C17F78-496B-41D8-9810-6C315237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1962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金融、政务、医疗等场景提供隔离、审计、SLA 和专属支持。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80D8F7-8EF0-421B-99BB-60D0AEAE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A98914-6414-4410-A984-296064B9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高客单价入口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3D225A-5D35-4C28-81FC-B038571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7810500" cy="381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D8FC00-760D-4E9F-BF9D-BCD6704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53050"/>
            <a:ext cx="727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核心：用长任务结果计价，把“token 成本中心”变成“工程交付价值中心”。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0706BD-26EE-4C0E-B5EA-6C6F170C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250AAE-6F30-4D70-B395-B181BEB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941905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5D6C0-5CE4-4B03-AA1E-42E6D9C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0D0CE-5AF3-4351-B605-181FA9F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6361F-A62B-4426-91A2-21E631C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0A71-C2E1-4B6A-BC13-080F5D9E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E6DB3-AFA7-41F1-8AB9-4924404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76B4-2241-4D13-9078-94E5F25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C5DB3-B278-40F5-8AE7-EFCD49D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D9134-A9BF-4590-8259-C300C2E5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A710-E0D8-4CA2-9888-7BA99EC0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6A1CE-2E07-4E9C-8645-6051F3F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9F478-A951-4D82-9361-526CCA3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C16B4-241E-40B8-B56D-1FF95007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7CC5C-DA14-46A7-A224-AA98F87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6BB66-61C9-462C-88EB-53694AA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966A3-D997-441C-BD75-8743B424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F80F6-4B08-4D03-B19C-F18EE6E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32A6C-A876-469A-8B18-9DB38DC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8D717-2378-4A03-A174-A8F72D8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收入结构预测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2CCC4-52F3-4C3D-BF5D-ECFB05BC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从订阅驱动转向企业长任务与私有化驱动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63655-C3D8-41CD-A8CC-35AD16A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商业计划书给出的收入结构显示：随着企业级场景打开，企业长任务与私有化收入占比将显著提升。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AB0FB-39FF-44FF-A485-B72923CA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7A078-F03A-455B-BF51-5CEAEC0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029450" cy="3333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123950" y="2476500"/>
          <a:ext xmlns:a="http://schemas.openxmlformats.org/drawingml/2006/main" cx="6191250" cy="2533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3c91b0d71e4dbf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EB7A5-89DF-4EC2-9F6B-8E05719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6860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F871F-1234-4227-ABE2-ECDECC16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686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9A08D-38B1-4873-8551-00489896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$150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009D0-46A4-4A1E-9C0F-770BC26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2026 人均 ARPU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FAD87-0C46-4AEC-AA93-D7BDA547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订阅主导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4CF33-4C30-47F2-B94D-A1A650D1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860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E1785-7378-40C2-A8EA-60735E6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86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0D56A-C323-4FAF-8EFB-F7FD91EA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$220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B651B-B344-4DB3-80AE-A475F1BB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529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2027 人均 ARPU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04AD4-37E0-4451-AEA4-5334670E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企业/API 占比提升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33EAB-6FDA-430C-A12B-9F2966A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6860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EAC465-EBA1-4E7A-9AC7-0FD963C6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686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A5738F-BED1-4E63-AB29-1F61A10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A31C22-5C62-44B2-8C69-F6B863D2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2028 人均 ARPU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FFDFEC-2099-4444-A038-F9B757A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959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企业级长任务放量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72E9C3-D09C-4913-A21C-72ADC68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2B975D-7D92-42FC-9FBA-B211A35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603630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DDFB3-6C55-4D98-B03A-AAA325D1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66126-154F-46FD-9ADB-7A3072EC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98E80-9EAA-4703-9946-092DF23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3C3C2-E582-486D-A7E9-F3CCD40A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FC0EC-70BB-4283-9531-4BEEB09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77EAF-AF4B-405B-8180-5158B740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EADAF-EC82-4C22-9EDD-299A6BD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88A8B-F919-46AF-A2F6-0D0EC217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D4C95-BC07-4638-979D-C9A14160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DC712-CF70-472A-903B-F77BB1F6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82BA1-1FAE-42ED-AC22-4005627F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0D90C-D886-4BF8-AF71-CD95C96A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B5B16-8E10-4353-BC60-340DD1E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502CA-3BF1-4EC9-B868-4E9A20D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AF486-B222-4B26-A85E-CEAE8A2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1C976-5A49-421C-A4C2-65C039F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F69EA-D1A5-41BF-9280-00766D09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91A74-D2D8-4F26-8D9C-06DB62DF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融资规划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7F976-4764-4E17-BDBE-7EBCABB2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三轮融资，围绕内核验证、产品化和规模化推进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2772C-9F06-47CD-800A-0A6C3C4A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融资节奏沿用参考 BP 模式，资金使用重点是核心系统工程能力、企业客户验证和平台生态建设。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56D24-E0C5-4965-AA5C-9B5A4F76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9315C-8353-41DD-8CA4-704793F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21945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B80E6-C7BE-4EBC-8392-D803009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4AA"/>
                </a:solidFill>
              </a:defRPr>
            </a:pPr>
            <a:r>
              <a:rPr sz="1650" b="1">
                <a:solidFill>
                  <a:srgbClr val="00D4AA"/>
                </a:solidFill>
              </a:rPr>
              <a:t>Pre-Seed / Seed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9180B-DAD2-459A-A89D-4533C7F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2026 Q1-Q2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395A6-FD97-406E-A2AE-7535B307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$2-5M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7995E-1582-4E7A-A2EC-AABC7104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核心团队搭建（5-8 人）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DD8EC-DEB1-4849-A81D-DC48183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公开评测 + 开源社区运营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6D56B-53FE-4FA7-8722-4F7C917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首批 Design Partner 获取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6906FB-81D9-4D7E-9EC8-4D603727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21945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9214C0-5882-49FA-B592-5E53966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</a:defRPr>
            </a:pPr>
            <a:r>
              <a:rPr sz="1650" b="1">
                <a:solidFill>
                  <a:srgbClr val="3B82F6"/>
                </a:solidFill>
              </a:rPr>
              <a:t>A 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429030-22C2-4D91-A2C4-A46C3F8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2027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C1D809-C583-4FFB-B8EB-42CF974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$10-20M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7362F3-E39F-4795-BD03-ABDF84F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产品化 Cloud +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D02CD3-6F26-4BF7-9F09-B5E19908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9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销售与客户成功团队搭建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BE521-7707-4447-A560-52B6B54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43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10 → 100 客户增长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6A6AD-969F-4BDE-97F1-D73118A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21945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CBA81-D63A-42EF-9379-919B758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</a:defRPr>
            </a:pPr>
            <a:r>
              <a:rPr sz="1650" b="1">
                <a:solidFill>
                  <a:srgbClr val="8B5CF6"/>
                </a:solidFill>
              </a:rPr>
              <a:t>B 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395BEC-B1F3-4EE8-BF7B-500F891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2028 H1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1C9C7D-2265-424A-A8C9-E097F722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$30-60M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6E1E1D-BFD1-42C3-9D93-62E2C9EE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规模化扩张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465D8-4709-470B-A839-03E16F90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国际化 + SDK 生态建设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4E2E35-F262-437C-AADE-854F22E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43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• 行业合作与私有化交付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2FC748-2D17-465B-840F-5FE8F0A1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042939-4226-4666-B050-29C0A051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278952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FB7C-08C8-4D1A-ADC5-96C0B0E6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4F4C4-F749-4551-AB63-8A429CF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F7ECA-FCDA-45A9-AC37-276AD6E4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63FAA-20C2-46AF-91B9-FBE70AF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619B4-399F-42A5-9029-0E755DF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41E58-7A2F-431A-A566-35CB87F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0CE0F-61CC-42A4-AFFB-DD61C4F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A5770-A3B8-438A-A005-097EC875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67A6B-3A41-4710-A890-AEAFC11A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01C05-B2FF-4F5C-8C6F-4AF346E3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0C379-F96E-4656-A741-971B73FC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8406C-651B-4A56-AE24-90989D2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1F76D-E9D0-45D7-BAB5-440B82CD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C112-A62A-43BC-A03B-D7C2B1C9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447C6-54A0-4526-B0FA-0E96F0F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9FFB2-6B2F-4951-A0D8-B2427B1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5EBEB-164B-481A-85B0-4C433F4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80130-0ABE-46BA-9240-398019EF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团队与风险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3FAC9-F1BB-4E2B-9F0F-878DA24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首年围绕系统工程、Agent 与产品化补齐关键能力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F4454-B601-48A3-AFF5-ABC16493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商业计划书当前团队章节待补充；BP 版本以岗位结构和关键风险应对方式呈现。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99C07-2A9F-4673-98E4-F243D0DD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7999F-1D57-44D2-B283-9F1089C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029200" cy="3429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37B56-ECB2-47BB-9934-68D93C7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4AA"/>
                </a:solidFill>
              </a:defRPr>
            </a:pPr>
            <a:r>
              <a:rPr sz="1650" b="1">
                <a:solidFill>
                  <a:srgbClr val="00D4AA"/>
                </a:solidFill>
              </a:rPr>
              <a:t>核心团队（首年 5-8 人）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9A04B-F761-48D7-9081-F02CD62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552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CAD38-42B4-44B5-AA58-C8F46530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</a:defRPr>
            </a:pPr>
            <a:r>
              <a:rPr sz="825" b="1">
                <a:solidFill>
                  <a:srgbClr val="EF4444"/>
                </a:solidFill>
              </a:rPr>
              <a:t>P0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D5EB9-C746-4AEA-A0A8-746DEA1E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57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分布式系统工程师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2CFC0-7C17-4CC7-ABAA-1C3FC5C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2-3 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6DFE6-09E9-4144-94C1-425A894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552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8B373-BC1D-4BDC-A3ED-D04D123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</a:defRPr>
            </a:pPr>
            <a:r>
              <a:rPr sz="825" b="1">
                <a:solidFill>
                  <a:srgbClr val="EF4444"/>
                </a:solidFill>
              </a:rPr>
              <a:t>P0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0DFAB-DA20-4E28-9DA2-55BFCE8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956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 / Agent 工程师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48B940-8368-4C83-AA8A-FAEA90ED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2-3 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FEEF78-5655-4445-B86C-381DF94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552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65EBD5-3DAA-4437-9FD0-939873F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8BFAA0-AD2E-4CEE-8125-66AD965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338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前端 / 产品工程师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2D94A5-55FA-4170-B7EC-A370FF6E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1-2 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01AA8-A5BA-4592-8DA7-11E2C167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552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50C5EF-BCF8-4ACB-ABE1-4C425B20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0EEDA8-7519-4594-A2E5-75AA9BE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719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DevRel / 开源运营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AB6A5D-0C9B-4ECF-A1E7-3BCF312E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1 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6EB11-E604-48A3-A73F-31A3818B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552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A16082-723B-457F-80F0-15A91618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P2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B49B2F-B4FD-4AAB-9C97-E010A60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0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商务 / 销售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441375-045C-4577-A3FB-2039BFB5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1-2 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968F27-B93C-43AA-8340-8687698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029200" cy="3429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D61D1C-DA03-4AC4-804A-6B88D48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</a:defRPr>
            </a:pPr>
            <a:r>
              <a:rPr sz="1650" b="1">
                <a:solidFill>
                  <a:srgbClr val="8B5CF6"/>
                </a:solidFill>
              </a:rPr>
              <a:t>关键风险 &amp; 应对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C377C1-A5B2-4EDF-AA13-A35FD4B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LLM 厂商自建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F20240-AE58-41C4-8C5B-495B9C2F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模型无关 + 先发优势 + 开源锁定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82FF2F-1DDC-401B-9CFE-DF90A121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市场教育成本高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B7F421-D7A6-496B-9229-98C18528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CooperBench / SWE-Evo 量化展示 + 对比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6B3408-0255-49E4-90B2-05CAEFB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开源竞品追赶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0D3DBE-EBDD-4B03-96D4-96014503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持续技术领先 + 企业功能差异化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F3B1B7-0A0D-4DA8-AA6D-DE6E09C0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单 Agent 能力提升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673E4B-057A-4648-9445-7239B7E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482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并行化与长任务恢复需求仍刚性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66763A-FB46-4C17-9C85-9783F232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17BE88-50DD-4535-83EE-B4F0BF7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042369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00A721-8DD6-4CDF-87CC-1B075135E3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1C3B7-C3E3-46A7-8B68-DCA27320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8CC24-1D09-4430-9DB6-61AD6F3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57CF5-9530-4DFD-913B-A8EF2DE2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5DFD4-0747-42E0-BD51-C276F40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82AA5-BDC9-418F-B648-60FBFF4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E8D0E-663C-41F0-BEBD-C646604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2EF89-4047-4F36-BA3E-5F7D0816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7767F-4630-422D-879A-BDC8649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63217-C1DD-4016-8612-6D1B39EE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3EC0D-D5C7-4F2B-9C26-8E953095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3B83C-2318-4B49-A2C6-AD7BD9FD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7AD6-189E-4CBF-A87D-BEAFF6D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896B4-48DE-4CB1-ACB5-26093FE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7BB26-EF70-4DCE-AD22-0857FE6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F69F9-99FD-4110-9B7C-C187672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A0DBE-5155-4CAC-BB23-4376DA6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C5EFC-6E00-42E4-B4B3-D4191F7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8A22C-5A94-420B-A705-1E5FE1C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Ephemeral 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C9F7F-E32F-41E3-8912-E948DBD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D4AA"/>
                </a:solidFill>
              </a:defRPr>
            </a:pPr>
            <a:r>
              <a:rPr sz="1875" b="1">
                <a:solidFill>
                  <a:srgbClr val="00D4AA"/>
                </a:solidFill>
              </a:rPr>
              <a:t>多智能体工程协作时代的 Git + Kubernetes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E012B-9477-40D0-BB0B-AEA531E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为 AI Agent 团队提供长任务拆解、并发安全、共享观测和局部恢复的基础设施层。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32AE2-C77D-4136-A628-EB511F47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42F09-1303-423C-8A5B-5281DB86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57110-218F-495D-864A-8FF784B4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7D268-58A2-4581-AD8F-6C1BD72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稳定并发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6C815-C46C-4A96-92CA-35B5BA16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0C731-65A4-49F2-8106-8909214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49FF6-05E0-4128-A208-9448CD1C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≤5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8535E5-96C7-45E7-BA00-C6D850E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行业常见并发上限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686FE-366C-4EE9-8DA0-A1492B5E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2E8D53-14C5-4DFB-B8A5-FD62E35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C1EB1-BFA3-4C4E-A86F-FED1236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50%+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79F37-5BFB-447C-90E7-D19F04E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SWE-Evo 阶段目标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FE147-D082-4BB5-8313-0822A87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71E3AC-3A2D-4C67-BF36-6788D1A8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996FB-3209-42E6-B222-922DC83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5CF48-1608-4951-BAE7-74855B87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2028 企业长任务/私有化占比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83981C-E059-464D-8720-4624DA9A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5A556B-CF89-4371-BE0D-830D8AB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BFFD7B-893F-4946-9CCB-C37F1F8A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3FF1A6-D2D2-4331-A56C-E12FE203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38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2028 人均 ARPU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3C2DBF-8C73-4BE4-A5BD-55835D2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219075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815F61-3B75-438F-B38E-AC476267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261D8D-EEC7-4350-8984-F3919FAF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$2-5M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2F06C4-606B-4F85-880D-BA2A1D0B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Seed 融资目标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9C5980-095F-4904-9A57-77B365F6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438400" cy="1885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0AD0F4-A938-43C7-9561-473ACE75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D4AA"/>
                </a:solidFill>
              </a:defRPr>
            </a:pPr>
            <a:r>
              <a:rPr sz="1650" b="1">
                <a:solidFill>
                  <a:srgbClr val="00D4AA"/>
                </a:solidFill>
              </a:rPr>
              <a:t>为什么是现在？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A092F0-273F-4EE4-A9DC-27978969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04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窗口期已开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技术成熟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市场验证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架构壁垒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533F12-BB2D-4B07-86F2-D9641D14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让 AI 工程协作系统，成为下一代软件开发的基础设施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05AD92-F030-4739-BE2D-575D602C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CONFIDENTIAL · 2026</a:t>
            </a:r>
          </a:p>
        </p:txBody>
      </p:sp>
    </p:spTree>
    <p:extLst>
      <p:ext uri="{BB962C8B-B14F-4D97-AF65-F5344CB8AC3E}">
        <p14:creationId xmlns:p14="http://schemas.microsoft.com/office/powerpoint/2010/main" val="981344052"/>
      </p:ext>
    </p:extLst>
  </p:cSld>
</p:sld>
</file>

<file path=ppt/theme/theme1.xml><?xml version="1.0" encoding="utf-8"?>
<a:theme xmlns:a="http://schemas.openxmlformats.org/drawingml/2006/main" name="Ephemeral OS BP">
  <a:themeElements>
    <a:clrScheme name="Ephemeral OS BP">
      <a:accent1>
        <a:srgbClr val="00D4AA"/>
      </a:accent1>
      <a:accent2>
        <a:srgbClr val="3B82F6"/>
      </a:accent2>
      <a:accent3>
        <a:srgbClr val="8B5CF6"/>
      </a:accent3>
      <a:accent4>
        <a:srgbClr val="F59E0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hemeral OS B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2026-04-21T12:55:38.0940000Z</dcterms:created>
  <dcterms:modified xsi:type="dcterms:W3CDTF">2026-04-21T12:55:38.0940000Z</dcterms:modified>
</coreProperties>
</file>