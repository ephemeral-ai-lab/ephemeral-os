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dbd6173924ac1" /><Relationship Type="http://schemas.openxmlformats.org/officeDocument/2006/relationships/extended-properties" Target="/docProps/app.xml" Id="Rfcd39418576c4a45" /><Relationship Type="http://schemas.openxmlformats.org/officeDocument/2006/relationships/officeDocument" Target="/ppt/presentation.xml" Id="R3f9a616ebf34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e9c0c953ed49b8"/>
  </p:sldMasterIdLst>
  <p:notesMasterIdLst>
    <p:notesMasterId xmlns:r="http://schemas.openxmlformats.org/officeDocument/2006/relationships" r:id="Ra9d182dc132d4e60"/>
  </p:notesMasterIdLst>
  <p:sldIdLst>
    <p:sldId xmlns:r="http://schemas.openxmlformats.org/officeDocument/2006/relationships" id="256" r:id="R600831cdbbce4847"/>
    <p:sldId xmlns:r="http://schemas.openxmlformats.org/officeDocument/2006/relationships" id="257" r:id="Ra9f9e8aba0844ff2"/>
    <p:sldId xmlns:r="http://schemas.openxmlformats.org/officeDocument/2006/relationships" id="258" r:id="R1325c9386a8e42f7"/>
    <p:sldId xmlns:r="http://schemas.openxmlformats.org/officeDocument/2006/relationships" id="259" r:id="Rb0ca933fdb2a4d33"/>
    <p:sldId xmlns:r="http://schemas.openxmlformats.org/officeDocument/2006/relationships" id="260" r:id="R3ec3a7860a734596"/>
    <p:sldId xmlns:r="http://schemas.openxmlformats.org/officeDocument/2006/relationships" id="261" r:id="Rbf3c2b2b7abf4a55"/>
    <p:sldId xmlns:r="http://schemas.openxmlformats.org/officeDocument/2006/relationships" id="262" r:id="R28565bb7fe9e4df0"/>
    <p:sldId xmlns:r="http://schemas.openxmlformats.org/officeDocument/2006/relationships" id="263" r:id="Re18f950e963b41ba"/>
    <p:sldId xmlns:r="http://schemas.openxmlformats.org/officeDocument/2006/relationships" id="264" r:id="Rd5d5fcd2ca3a4383"/>
    <p:sldId xmlns:r="http://schemas.openxmlformats.org/officeDocument/2006/relationships" id="265" r:id="R087b2dbae24e48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9c0c953ed49b8" /><Relationship Type="http://schemas.openxmlformats.org/officeDocument/2006/relationships/theme" Target="/ppt/theme/theme1.xml" Id="R3f5f8b785d9c406a" /><Relationship Type="http://schemas.openxmlformats.org/officeDocument/2006/relationships/notesMaster" Target="/ppt/notesMasters/notesMaster1.xml" Id="Ra9d182dc132d4e60" /><Relationship Type="http://schemas.openxmlformats.org/officeDocument/2006/relationships/presProps" Target="/ppt/presProps.xml" Id="R95340eedee8942b2" /><Relationship Type="http://schemas.openxmlformats.org/officeDocument/2006/relationships/viewProps" Target="/ppt/viewProps.xml" Id="R9cd26561f546466d" /><Relationship Type="http://schemas.openxmlformats.org/officeDocument/2006/relationships/tableStyles" Target="/ppt/tableStyles.xml" Id="R857b07c50b3b4ae2" /><Relationship Type="http://schemas.openxmlformats.org/officeDocument/2006/relationships/slide" Target="/ppt/slides/slide1.xml" Id="R600831cdbbce4847" /><Relationship Type="http://schemas.openxmlformats.org/officeDocument/2006/relationships/slide" Target="/ppt/slides/slide2.xml" Id="Ra9f9e8aba0844ff2" /><Relationship Type="http://schemas.openxmlformats.org/officeDocument/2006/relationships/slide" Target="/ppt/slides/slide3.xml" Id="R1325c9386a8e42f7" /><Relationship Type="http://schemas.openxmlformats.org/officeDocument/2006/relationships/slide" Target="/ppt/slides/slide4.xml" Id="Rb0ca933fdb2a4d33" /><Relationship Type="http://schemas.openxmlformats.org/officeDocument/2006/relationships/slide" Target="/ppt/slides/slide5.xml" Id="R3ec3a7860a734596" /><Relationship Type="http://schemas.openxmlformats.org/officeDocument/2006/relationships/slide" Target="/ppt/slides/slide6.xml" Id="Rbf3c2b2b7abf4a55" /><Relationship Type="http://schemas.openxmlformats.org/officeDocument/2006/relationships/slide" Target="/ppt/slides/slide7.xml" Id="R28565bb7fe9e4df0" /><Relationship Type="http://schemas.openxmlformats.org/officeDocument/2006/relationships/slide" Target="/ppt/slides/slide8.xml" Id="Re18f950e963b41ba" /><Relationship Type="http://schemas.openxmlformats.org/officeDocument/2006/relationships/slide" Target="/ppt/slides/slide9.xml" Id="Rd5d5fcd2ca3a4383" /><Relationship Type="http://schemas.openxmlformats.org/officeDocument/2006/relationships/slide" Target="/ppt/slides/slide10.xml" Id="R087b2dbae24e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4a4c432e48f41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phemeral OS Investor BP">
  <a:themeElements>
    <a:clrScheme name="Ephemeral OS Investor BP">
      <a:accent1>
        <a:srgbClr val="00D4AA"/>
      </a:accent1>
      <a:accent2>
        <a:srgbClr val="3B82F6"/>
      </a:accent2>
      <a:accent3>
        <a:srgbClr val="8B5CF6"/>
      </a:accent3>
      <a:accent4>
        <a:srgbClr val="F59E0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hemeral OS Investor B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ccddf35374a81" /><Relationship Type="http://schemas.openxmlformats.org/officeDocument/2006/relationships/notesMaster" Target="/ppt/notesMasters/notesMaster1.xml" Id="Re1cdd529c1d0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39b9986b1499c" /><Relationship Type="http://schemas.openxmlformats.org/officeDocument/2006/relationships/notesMaster" Target="/ppt/notesMasters/notesMaster1.xml" Id="Raf6d42927f3d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daabd709d4da7" /><Relationship Type="http://schemas.openxmlformats.org/officeDocument/2006/relationships/notesMaster" Target="/ppt/notesMasters/notesMaster1.xml" Id="R8337f4767c1841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64dfdb693b4c32" /><Relationship Type="http://schemas.openxmlformats.org/officeDocument/2006/relationships/notesMaster" Target="/ppt/notesMasters/notesMaster1.xml" Id="R1655fdeb0823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797d49242406b" /><Relationship Type="http://schemas.openxmlformats.org/officeDocument/2006/relationships/notesMaster" Target="/ppt/notesMasters/notesMaster1.xml" Id="R808820cc2726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5c844fde924e8f" /><Relationship Type="http://schemas.openxmlformats.org/officeDocument/2006/relationships/notesMaster" Target="/ppt/notesMasters/notesMaster1.xml" Id="R97f2cba314f34b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a9c7af771473a" /><Relationship Type="http://schemas.openxmlformats.org/officeDocument/2006/relationships/notesMaster" Target="/ppt/notesMasters/notesMaster1.xml" Id="R3ffc07d91a124f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f22953c0954cac" /><Relationship Type="http://schemas.openxmlformats.org/officeDocument/2006/relationships/notesMaster" Target="/ppt/notesMasters/notesMaster1.xml" Id="Re24c2c84cfde4f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eb5d63be6a4476" /><Relationship Type="http://schemas.openxmlformats.org/officeDocument/2006/relationships/notesMaster" Target="/ppt/notesMasters/notesMaster1.xml" Id="R2dfbb7fffc2f44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1082a0d7ae455e" /><Relationship Type="http://schemas.openxmlformats.org/officeDocument/2006/relationships/notesMaster" Target="/ppt/notesMasters/notesMaster1.xml" Id="Rbcff040974a6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308e6ee5a40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27F1A13-443A-4D5C-8023-9179745CA36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F7CF01-1100-4DF5-9AB1-89A0EF9CED2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900960-EC91-4465-8AB3-7652A2C59DC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2D721A-D83C-495A-A89E-5A70710796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d1e93e01e64945" /><Relationship Type="http://schemas.openxmlformats.org/officeDocument/2006/relationships/slideLayout" Target="/ppt/slideLayouts/slideLayout2.xml" Id="R1f57218a32d04a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BD380C-20D9-4A99-8159-929536ED719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7218a32d04a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3524097561417e" /><Relationship Type="http://schemas.openxmlformats.org/officeDocument/2006/relationships/notesSlide" Target="/ppt/notesSlides/notesSlide1.xml" Id="R01e176e30ffc40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4e272c22d8473e" /><Relationship Type="http://schemas.openxmlformats.org/officeDocument/2006/relationships/notesSlide" Target="/ppt/notesSlides/notesSlide2.xml" Id="R0b4ffd346904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2753cfe874e52" /><Relationship Type="http://schemas.openxmlformats.org/officeDocument/2006/relationships/notesSlide" Target="/ppt/notesSlides/notesSlide3.xml" Id="Rc0445686237c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a35b6790c4a58" /><Relationship Type="http://schemas.openxmlformats.org/officeDocument/2006/relationships/notesSlide" Target="/ppt/notesSlides/notesSlide4.xml" Id="Ref3402c32e62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4cf1b8d51e4c4b" /><Relationship Type="http://schemas.openxmlformats.org/officeDocument/2006/relationships/notesSlide" Target="/ppt/notesSlides/notesSlide5.xml" Id="Rde9e3624118c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00de95235446b5" /><Relationship Type="http://schemas.openxmlformats.org/officeDocument/2006/relationships/notesSlide" Target="/ppt/notesSlides/notesSlide6.xml" Id="Rbcadf8a96b8b40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51e4e7fdd44cd7" /><Relationship Type="http://schemas.openxmlformats.org/officeDocument/2006/relationships/notesSlide" Target="/ppt/notesSlides/notesSlide7.xml" Id="Rbd08f1c45861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bd3299ca14ad7" /><Relationship Type="http://schemas.openxmlformats.org/officeDocument/2006/relationships/notesSlide" Target="/ppt/notesSlides/notesSlide8.xml" Id="R9aa2af98047549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52ef82ecf4ca2" /><Relationship Type="http://schemas.openxmlformats.org/officeDocument/2006/relationships/chart" Target="/ppt/slides/charts/chart1.xml" Id="R9ebecd1e1d9c40b3" /><Relationship Type="http://schemas.openxmlformats.org/officeDocument/2006/relationships/notesSlide" Target="/ppt/notesSlides/notesSlide9.xml" Id="Rb2288a67631d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c133a9dc5d4fe9" /><Relationship Type="http://schemas.openxmlformats.org/officeDocument/2006/relationships/notesSlide" Target="/ppt/notesSlides/notesSlide10.xml" Id="R90fdefe76f944360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grouping val="stacked"/>
        <c:varyColors val="0"/>
        <c:ser>
          <c:idx val="0"/>
          <c:order val="0"/>
          <c:tx>
            <c:v>订阅</c:v>
          </c:tx>
          <c:spPr>
            <a:solidFill xmlns:a="http://schemas.openxmlformats.org/drawingml/2006/main">
              <a:srgbClr val="00D4AA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70</c:v>
              </c:pt>
              <c:pt idx="1">
                <c:v>55</c:v>
              </c:pt>
              <c:pt idx="2">
                <c:v>40</c:v>
              </c:pt>
            </c:numLit>
          </c:val>
        </c:ser>
        <c:ser>
          <c:idx val="1"/>
          <c:order val="1"/>
          <c:tx>
            <c:v>API / 按量</c:v>
          </c:tx>
          <c:spPr>
            <a:solidFill xmlns:a="http://schemas.openxmlformats.org/drawingml/2006/main">
              <a:srgbClr val="3B82F6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20</c:v>
              </c:pt>
              <c:pt idx="1">
                <c:v>25</c:v>
              </c:pt>
              <c:pt idx="2">
                <c:v>25</c:v>
              </c:pt>
            </c:numLit>
          </c:val>
        </c:ser>
        <c:ser>
          <c:idx val="2"/>
          <c:order val="2"/>
          <c:tx>
            <c:v>企业长任务 &amp; 私有化</c:v>
          </c:tx>
          <c:spPr>
            <a:solidFill xmlns:a="http://schemas.openxmlformats.org/drawingml/2006/main">
              <a:srgbClr val="8B5CF6"/>
            </a:solidFill>
          </c:spPr>
          <c:cat>
            <c:numLit>
              <c:formatCode/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/>
              <c:ptCount val="3"/>
              <c:pt idx="0">
                <c:v>10</c:v>
              </c:pt>
              <c:pt idx="1">
                <c:v>20</c:v>
              </c:pt>
              <c:pt idx="2">
                <c:v>35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E293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CBD5E1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873EC-ABC6-4F90-92F8-EA68557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B6ED-0B42-4015-AF3F-3BA624F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AF6D8-50A9-47B7-8853-521506EB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988F1-C2AD-4113-B89B-9C8075EC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5A9C6-0419-4F26-8D62-E4850E7D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4B836-9BF7-45F6-918E-28930CC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DEA1-B0AD-4773-B13F-7C2CCC87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8721B-C995-4CA1-898E-B7A060B1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9C551-59D9-463D-B7E2-BCB49A1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E8210-724B-4C87-B8B9-CE07BCA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9A533-F8DD-4D55-B21B-AB5C388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558AA-1190-48BA-B1DB-485485C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23F24-4F38-4514-AF93-00E080A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C3321-052C-41CE-83B9-A2695F21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C6DFF-A648-46FD-B05E-A5A3A289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A558B-44A8-49DC-A786-DAB526B5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10D09-D876-42D9-9995-07D4D65A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55DCD-92E0-4052-BC06-9885BD3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AA"/>
                </a:solidFill>
              </a:defRPr>
            </a:pPr>
            <a:r>
              <a:rPr sz="975" b="1">
                <a:solidFill>
                  <a:srgbClr val="00D4AA"/>
                </a:solidFill>
              </a:rPr>
              <a:t>COMPANY 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108F0-3382-492E-BA70-D5DFFD87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Ephemeral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37CCF-0437-4524-80F6-3FD53C75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D4AA"/>
                </a:solidFill>
              </a:defRPr>
            </a:pPr>
            <a:r>
              <a:rPr sz="2025" b="1">
                <a:solidFill>
                  <a:srgbClr val="00D4AA"/>
                </a:solidFill>
              </a:rPr>
              <a:t>AI 工程协作系统的操作系统层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84283-DE83-4B98-A5AC-6F8CED0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733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把长周期、跨仓库、跨天级的复杂工程交付，变成可拆解、可并发、可恢复、可审计的 AI 团队工作流。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64148-0E4D-4B46-AF19-134B097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9530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B83AB-0408-44D3-9AC1-700A086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AA"/>
                </a:solidFill>
              </a:defRPr>
            </a:pPr>
            <a:r>
              <a:rPr sz="975" b="1">
                <a:solidFill>
                  <a:srgbClr val="00D4AA"/>
                </a:solidFill>
              </a:rPr>
              <a:t>一句话定义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27E4D-A22C-4AB3-B12A-99A77A7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Multi-Agent 原生的 AI Coding Agent 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C66F6-96B4-444C-AD50-EADA5425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04800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>
              <a:alpha val="80000"/>
            </a:srgbClr>
          </a:solidFill>
          <a:ln xmlns:a="http://schemas.openxmlformats.org/drawingml/2006/main" w="11430">
            <a:solidFill>
              <a:srgbClr val="00D4AA">
                <a:alpha val="5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55253-6D26-4A47-82A0-1DCDEFBD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73C72-2D95-42AA-99C9-747B7BC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120"/>
                </a:solidFill>
              </a:defRPr>
            </a:pPr>
            <a:r>
              <a:rPr sz="1875" b="1">
                <a:solidFill>
                  <a:srgbClr val="0B1120"/>
                </a:solidFill>
              </a:rPr>
              <a:t>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D37FB-3AA2-48D5-9B2C-81C0A07A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CE9FE-7B1C-430D-9FAF-912264C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EE9F4-7EA1-4CA8-9A02-4C6DBA58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FCF40-2735-4865-844D-31BE13CC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574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52DD7-547E-4C87-B451-87B649F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81076-9CF4-40D7-8544-C65CBD2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0870BF-2A24-4312-90CC-F7EE0F75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19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DAA6F-2F4F-41E7-B3C4-8470A28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671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1A39E4-16B7-49A5-8E55-4F6A8B28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CONFIDENTIAL · 2026</a:t>
            </a:r>
          </a:p>
        </p:txBody>
      </p:sp>
    </p:spTree>
    <p:extLst>
      <p:ext uri="{BB962C8B-B14F-4D97-AF65-F5344CB8AC3E}">
        <p14:creationId xmlns:p14="http://schemas.microsoft.com/office/powerpoint/2010/main" val="1514145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C5728-B029-48C7-AD7F-48D993C0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14DB4-8475-4AAF-A87C-A08ECF7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3EDF6-8B94-4A6F-9BE2-E7589BBA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E5212-5E43-45DA-A78B-8E5E31A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CA241-8A84-4A0E-BC1D-ED21E55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156D-B8F0-4A98-B3A8-475C538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6132D-B613-434F-B722-C99C4FE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6BFF8-197E-40A8-8C29-43D2E075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F5FFD-4E07-4E46-93F7-2273BA4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540D5-0506-4863-84C2-81E3DB4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8E175-2307-4235-99CB-748340A1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86807-AF56-4B29-8F23-770B8AD5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CCFC8-389E-4D2B-940C-39954AEA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0A19A-50CF-4669-A707-35DC601F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86BDA-4904-45D3-AA0C-A0895CB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71492-9347-4BFA-A1C2-1D8145E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F7249-0788-43E2-8F51-68506CA8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A1332-3B53-4E8E-9356-F8FB153D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0749D-E41F-4488-9649-D900D34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用户无法用一条指令精准完成 long-horizon 复杂任务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319E1-1E0D-4B01-86D9-470678EB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不是模型不会写代码，而是现有 agent 框架并发不足、执行链路慢、失败恢复粗，导致复杂工程任务无法稳定一次性闭环。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2D2BF-E0CC-4B6C-AF04-B91DB7A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22DB4-51C8-4C3D-BA73-7D0EC82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3235F-7FE4-41F3-91E1-7C50F1F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66852-346C-46F1-972D-0D775D1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</a:defRPr>
            </a:pPr>
            <a:r>
              <a:rPr sz="1350" b="1">
                <a:solidFill>
                  <a:srgbClr val="EF4444"/>
                </a:solidFill>
              </a:rPr>
              <a:t>一条指令无法稳定闭环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BFF27-28BA-4489-BE8C-52D1696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914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用户想表达的是一个高层工程目标；真实执行却涉及跨文件、跨模块、测试、修复和验证。现有工具容易中途偏移，需要人工反复接管。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1A46B-B944-4DF4-96D3-49EF18D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77C4F-70D3-40C5-8780-AA361D80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F628F-DFE2-4F36-8500-F1C5CFF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Concurrency 不足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AAC48-86BF-4B9A-9537-83554D9D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2914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当前多 Agent 框架稳定并发度有限，无法把 long-horizon 任务拆成足够细、足够多的并行工作单元，复杂任务仍接近串行推进。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4F187-7983-40C4-A1F5-BD87DD5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2076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E2977-2ABB-4BCD-BC62-3EEF934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A74A0-DD94-4236-A2B3-9BD6969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效率不够快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DE731-88CC-48F2-BFF1-A3E6E65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9146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任务切割偏粗、依赖调度弱、失败后常常重跑或人工纠偏。结果是交付慢、成本高，且越复杂越难保持精准。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57B30-CA95-4925-8369-86EDF3A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791700" cy="666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73B00F-E40D-40F6-8D63-9BF12FB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6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机会：把 long-horizon 任务变成可拆解、可并发、可观测、可恢复的工程流水线。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EDE46F-C715-4B1C-A1E2-39A2F999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58EFB-C075-4927-BD7E-6FA34EDF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65454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3877F-D800-46E0-9536-6B40500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7AD7-1EE4-43AC-9B65-91FCDBD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1E5BB-7A30-4D7E-B9D2-F48081B3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DD56E-BBE7-4B2A-945D-1BCB8785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C87D0-38BE-48C9-8948-45ACC2E9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9478C-67B5-42A9-B186-00946C87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40BA2-C31A-4634-85B5-DD9058D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BD852-A5D8-413E-AFFF-F8D4FE2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6BF26-F118-43D4-B2B4-CA38B04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B29F8-B7B6-4D00-885D-4EF56814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3EF6C-EABC-49E4-B29D-3D0A008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A9F04-1E7A-42AF-9945-87EDC1A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F32DA-8CCC-4AE0-A3D7-5B2E2BF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9A4FF-D80D-42F0-B3A4-1E2A48B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C86E5-8A68-4160-AE18-A50EC351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653BF-FC8D-4215-8F69-2AFE4274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0FA9-6EBF-43E4-9E12-788B94A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965AC-8690-4150-8DA8-CD4C6755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1E542-7BEB-4BB0-A9F9-8ED1CD6E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Multi-Agent 原生工程协作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EE54F-916A-4C1A-999D-83754D5E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Ephemeral OS 把规划、并发执行、共享观测、冲突处理和局部重规划做成统一运行时。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4FB41-06D7-4FAE-B58E-93E7DD1B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99BA5-87B7-40F9-B921-2AAEA58E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B7076-4277-49D6-A3A4-18BDD995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D4AA"/>
                </a:solidFill>
              </a:defRPr>
            </a:pPr>
            <a:r>
              <a:rPr sz="1125" b="1">
                <a:solidFill>
                  <a:srgbClr val="00D4AA"/>
                </a:solidFill>
              </a:rPr>
              <a:t>输入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12479-F1BA-4B3C-AD0C-322FDD3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高层自然语言目标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E16B3-C560-4B88-8405-38E1989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813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7E64D-D831-4A43-ACC3-429BD241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A51FF-EC85-4D7A-B74A-3B740272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82F6"/>
                </a:solidFill>
              </a:defRPr>
            </a:pPr>
            <a:r>
              <a:rPr sz="1125" b="1">
                <a:solidFill>
                  <a:srgbClr val="3B82F6"/>
                </a:solidFill>
              </a:rPr>
              <a:t>Planner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4C96E3-6DA9-4A3A-B7D4-36989EC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递归拆解为 Tree-of-DAG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7C5D9-290C-4F54-8E65-A457DAED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813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0537D-D14E-41C5-963B-83A8C6E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05B4E-D968-4F24-99E5-1E6B5C50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5CF6"/>
                </a:solidFill>
              </a:defRPr>
            </a:pPr>
            <a:r>
              <a:rPr sz="1125" b="1">
                <a:solidFill>
                  <a:srgbClr val="8B5CF6"/>
                </a:solidFill>
              </a:rPr>
              <a:t>Workers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32615-9EC5-4938-9141-8E66D114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前端 / 后端 / 测试等专精 Agent 并发执行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F4C68-A35F-46CE-A024-D8E92D11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813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A9F6F6-0CC5-46AA-A9D3-83540A5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8DBD02-1613-4F21-AB0F-2FAB7A8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Runtime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043886-3D95-45EB-8F80-02DDC1F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Overlay + OCC + 天眼共享状态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C3EF45-DE6C-4F86-B44E-996BD36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813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63336-2F86-4DBC-B136-34D6FFC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29D5FC-2CAD-41FE-BA7A-55817590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Replanner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60964C-FA0B-47F5-B24F-55C4DF13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失败点最小子树局部修复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D94631-447F-4851-90C8-A6147AC3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813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87560C-AB9A-40A1-BDDA-FC70237E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1428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0B1BE-AA56-4CD0-80BA-7665592F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384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D4AA"/>
                </a:solidFill>
              </a:defRPr>
            </a:pPr>
            <a:r>
              <a:rPr sz="1125" b="1">
                <a:solidFill>
                  <a:srgbClr val="00D4AA"/>
                </a:solidFill>
              </a:rPr>
              <a:t>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7549D9-1192-4025-B690-2C8E8B3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242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可验证工程交付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917D90-CC28-4246-96AF-393D64F1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238125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FDCE44-8A8D-4AA2-93DE-1CAF1CDF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EA3FE2-3714-4DD7-B47C-1B3F611B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更高并发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87B5C7-F58F-4DC9-BE3D-8F6DD42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292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10+ Agent 稳定协作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022638-641F-4EDE-BEC0-CEB1A2B9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38125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877EE6-8820-42D4-B33E-87A6C953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0B817F-0987-4D1F-ACBB-261EC8A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更低沟通税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B7FB8C-F165-40EB-AABC-F6EEA3E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292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环境观测替代显式转述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0993C2-E16C-4157-9157-9610FC6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238125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A3FAA1-B694-44EB-B54D-758BC3F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4FF9EB-7F40-4D62-83B7-BC902C2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更强恢复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741AD3-DECA-4577-B1D2-13600A7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失败只修最小子树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F496F4-5EA4-4B11-9EB3-6A15B8DB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48FC9D-F458-498F-BF5E-22A9A017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780610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28CC8-083A-4DB1-A919-D9EF5C74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42D43-24F1-4BE9-AA04-D3E3C922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3F4C5-72AC-42ED-93C0-A06CFE4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35F9-C9D2-4D16-87F9-664C97F6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F9B12-F7F8-4B9E-9780-58F7217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B9732-3AC1-478E-94B4-4C5A6C8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A6772-BA12-4D14-A2F9-7B21C48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9452C-C333-4B76-8E90-EF37660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19F20-6495-4624-AC2B-909AEB0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1627D-14EE-4151-9887-6C83196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24537-6E7D-4572-9E80-AE22CD2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D4CF6-8F1B-412A-BED3-9AFCC6E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4492E-F592-44BE-A34B-4C95D144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D96C2-E23A-4436-91B0-E87482F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AD6D4-FC0B-43DA-92DE-A2859E46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1C3ED-C88F-4CCE-9733-3A1036C5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E8579-9EC0-49F3-82BA-BE0CCD1A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382FD-2565-447F-94A0-2116330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WHY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0F967-860A-4768-9DA5-9FA98AE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为什么现在才可能出现 AI 工程协作 OS？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25F43-C82A-4CE6-AE72-65D7513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关键问题：为什么不是五年前，为什么不是五年后。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FC5F1-953F-419F-8216-8274C6E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E0599-5797-429B-9667-79A143F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6672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59662-9576-4750-8725-B081A56E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B5E2F-6C79-4FBD-984E-083D9013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424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AA"/>
                </a:solidFill>
              </a:defRPr>
            </a:pPr>
            <a:r>
              <a:rPr sz="1350" b="1">
                <a:solidFill>
                  <a:srgbClr val="00D4AA"/>
                </a:solidFill>
              </a:rPr>
              <a:t>模型能力到达工程可用阈值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BFC7A-392F-4980-B101-CED3510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74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Claude / GPT / Qwen / DeepSeek 等模型能承担真实代码任务，瓶颈开始从“会不会写”转向“如何协作交付”。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6733E-AD12-44A0-AB46-097FBB6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6672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8D573-0AE4-4648-A0A3-AC24E2DC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F9E77-BB9A-418E-9D73-8633265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76500"/>
            <a:ext cx="424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长任务基准暴露单体边界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3ADDB-2C4C-47BB-91A0-3CA57E23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57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SWE-Evo、CooperBench 等任务把上下文管理、依赖拆解、并发写冲突变成可量化问题。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3660A-DCE9-4150-ADB7-314AF05C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6672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CFFF5B-BEBB-4055-AE42-7FA0A53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27B86-6CB6-4F72-AD10-A32CD290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4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企业开始为结果付费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360DA0-7E5D-4A13-B0AD-DA89E2C5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从 IDE 辅助订阅走向自动化 SDLC、跨仓库重构、系统迁移、合规改造等结果交付。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016A0F-DFD2-4281-81B5-24D85841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4667250" cy="1181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0819F2-64B4-48F5-8EA1-F5372BF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5F31BC-F17D-4906-8CA9-4D80752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00500"/>
            <a:ext cx="424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</a:defRPr>
            </a:pPr>
            <a:r>
              <a:rPr sz="1350" b="1">
                <a:solidFill>
                  <a:srgbClr val="3B82F6"/>
                </a:solidFill>
              </a:rPr>
              <a:t>基础设施形态已成熟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98F388-EC86-4DBF-A137-6452BFC7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815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沙盒、云开发环境、代码索引、Agent loop、数据库持久化与模型 API 共同成熟，使 OS 层成为可能。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FF046-9C16-4BB6-8060-CBCA4C70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0EBFA1-BFD8-4A71-A638-DC86FCB1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198546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6AE50-E892-49F5-AA5E-109B0BE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C32BE-D9DB-4AAE-B9FC-122F4441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E178-EB61-4ED7-8EA5-BE7F3C2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5E547-2359-4AE5-8D24-B98B3EC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202F2-4274-4D1F-BC26-6DAAA23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C787D-A522-4D32-BAD3-67BB83BA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FADBD-4C19-44DC-990F-217BC4C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A7FE2-5E21-4445-9A24-C5A4207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103E0-70BD-4E27-B582-53012F5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956C3-7D11-435E-A14A-9E9B2E39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46D67-4D6D-4189-ACDD-960F2D6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3BD17-90BC-4B25-8521-33AD63F5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BBA5A-A065-433E-A7CB-DAC5FEF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F7D55-C661-4459-94AC-CE52CCBA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0A519-C091-4353-8192-FCD6AB4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10C88-5953-4729-A7CF-A758502E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6C4E1-DEB7-49D0-84A3-1EB41A60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F6E67-1686-453A-932E-5EAE74D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MARKET POTENTIAL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E9A14-34BD-430D-BCBF-1399228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从 AI 编程工具市场切入，向企业工程交付平台扩展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3D65D-0E10-4917-B4FD-61BC2646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先服务最痛、最可验证的软件工程长任务，再横向扩展到通用 Agent OS。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E3628-4953-4AFA-B5F4-D664E77C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D3949-E346-43F6-8E17-7CAF0CA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857500" cy="1200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AB45A-CB62-4766-9C0A-C8A9C9E2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7F524-269B-4129-9E0F-744DAB2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$50B+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6B515-924D-4FAE-B84D-C55F59AA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全球 AI 编程工具市场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75E4C-E4B3-43EB-BCEF-B9E55479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2025 参考口径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31BC3-B139-4F07-86CD-C1A7509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857500" cy="1200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8C315-D4CF-4E64-A6C0-01C8BD2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F38C4-E69D-49F1-AAB4-367097D7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$15-20B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8799E-CBFC-46EB-B3DC-42F556E0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企业级 AI 编程平台支出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10131-7E49-4F3E-A5C7-F3608442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2028 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8357E-3E26-4C82-8AD8-EE7F18B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2857500" cy="1200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F5329-F7CC-42E5-BF24-E8D784D6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C95C1A-3FA7-4D36-AC8B-C083142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$3-5B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7C8DFB-2306-4845-AEB5-1971967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多 Agent 协作基础设施细分市场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A7E32-3D82-4AC1-9F01-61FF116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4A3B8"/>
                </a:solidFill>
              </a:defRPr>
            </a:pPr>
            <a:r>
              <a:rPr sz="788" b="0">
                <a:solidFill>
                  <a:srgbClr val="94A3B8"/>
                </a:solidFill>
              </a:rPr>
              <a:t>2028 预测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0BF509-41AF-4EC2-AB2E-12503B6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9867900" cy="1104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198B95-E4EF-454E-B34C-49BF158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4AA"/>
                </a:solidFill>
              </a:defRPr>
            </a:pPr>
            <a:r>
              <a:rPr sz="1275" b="1">
                <a:solidFill>
                  <a:srgbClr val="00D4AA"/>
                </a:solidFill>
              </a:rPr>
              <a:t>切入市场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DE2201-B932-4295-9D2B-5E2066C3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965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企业级复杂长任务：跨仓库重构、系统迁移、合规改造、存量现代化、长周期调研、运营自动化。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6EEC8A-C00C-4F75-8016-F0AE2FE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3AC3E3-1BA5-449F-888A-1D9F353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42080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9000B-B2A4-42D0-81B2-5D3EBD2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84800-6680-4B78-924E-D3CD2A6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1A14A-6E2E-491F-ADAC-D6F2C0B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9DA51-3F23-4C8D-86D5-C3502C6B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4C4AD-6CC5-4171-B94B-8CA878C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1D5C5-5C52-4900-A09A-A8A9DB8E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46A50-45BA-4078-98FE-D18826C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F2E3C-E22E-4D6D-BF31-51988E14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B0F91-2817-4371-B749-4AF9D5D5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96605-383D-4420-896B-EBEA4F50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09FB6-AC8F-46E7-A176-BF08E53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03B91-1CE9-4ED5-BC35-70EAA4C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C23E4-9FB5-4968-A12C-6326C0E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CDBDF-FE22-42D1-B536-01B3A6F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4B857-D55E-42CE-BA93-5144627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E9C01-1BE3-4868-A7E3-6DFCA310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81C38-FB79-4405-884B-F59AB6B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D587E-7008-4BD3-BAB8-AA33569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COMPETITION / ALTERNATIVES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D5CB2-845C-435D-B861-D83FF2FC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现有路径解决的是 AI 程序员，不是 AI 工程团队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6E252-7946-4998-8BCC-60F0819D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竞争重点不是“谁也有 subagent”，而是谁能在运行时保证协作、并发和恢复。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FB34A-AE45-4669-BAF1-86F9733C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D0ACA-6C4D-49FE-A471-07006EB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5334000" cy="2857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37676-66E9-4848-B768-A991328C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90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5A3E2-3EC4-4C40-B494-E8DB01CE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957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3EFC4-BF7F-4BF2-BCAA-5C5EEDB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低并发安全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23DD6-E6C5-4AF8-AD2B-21EE1BD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高并发安全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23FDD-A386-4B6C-A127-41ECB04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低恢复能力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DC309-B019-4A64-9254-DEA5C17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高恢复能力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E43E0-FEA5-41F8-B8F4-A57376F5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BC6EC-FCF9-4021-B9B9-C856A794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38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Ephemeral 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33538-5664-42F5-A2C5-3696DE4A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91FAA-F2C5-427D-B95B-9C29952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24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423BBA-DFC8-4B2F-9F8C-C407130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57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D2F8AC-9860-4DA5-B036-3D6AA25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Codex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4291E4-7C48-4172-8FD8-453F94A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EAA433-35EA-4496-A8BC-23BE2786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Cursor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1D9545-6CF4-4C01-A110-C9A7A26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C18610-EE86-4F83-8DE5-6F4CDCA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96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Devin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725A64-6754-4A71-9976-A85B0B44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5F8066-064B-40FE-BD68-78E781B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10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</a:defRPr>
            </a:pPr>
            <a:r>
              <a:rPr sz="825" b="0">
                <a:solidFill>
                  <a:srgbClr val="CBD5E1"/>
                </a:solidFill>
              </a:rPr>
              <a:t>OpenClaw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1A040A-325E-4463-A562-0B5E4072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7C988B-6AB0-4E94-BCD4-CDA9C65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1B1B09-48DF-4C5B-964D-86A9853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907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120"/>
                </a:solidFill>
              </a:defRPr>
            </a:pPr>
            <a:r>
              <a:rPr sz="938" b="1">
                <a:solidFill>
                  <a:srgbClr val="0B1120"/>
                </a:solidFill>
              </a:rPr>
              <a:t>替代方案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43B172-C814-4B16-A14A-49ABB6FB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717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120"/>
                </a:solidFill>
              </a:defRPr>
            </a:pPr>
            <a:r>
              <a:rPr sz="863" b="1">
                <a:solidFill>
                  <a:srgbClr val="0B1120"/>
                </a:solidFill>
              </a:rPr>
              <a:t>结构性缺口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01D973-E7ED-4E1F-9DFE-328BA76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48E2BA-99EB-4867-995E-8CA0C23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FD6CFE-87C2-4723-9047-376387F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479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沙箱隔离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4D5197-31B2-43F2-AD94-BEE459B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289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回避共享编辑，无法形成高效协作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E5F4E-3C77-4D5B-8957-BEAD044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D9A947-BBDE-4377-825D-4E552AB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3DB21B-5704-4EEC-A0ED-8E6AF70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051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模型信任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BEFD59-7814-4796-BA99-3430877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861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高并发下缺少基础设施级保护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145E59-E42C-43EC-8DE7-38EB11F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EE5691-EAAB-44CE-8B05-01EEA1B6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37EE69-3D87-4919-8C09-441C6B7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62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流水线 / 单体派生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8A2383-35EB-404F-B03D-C72A3076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433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</a:defRPr>
            </a:pPr>
            <a:r>
              <a:rPr sz="863" b="0">
                <a:solidFill>
                  <a:srgbClr val="CBD5E1"/>
                </a:solidFill>
              </a:rPr>
              <a:t>失败恢复和上下文边界仍偏串行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CDBDC1-4D93-4188-AFB4-EFE47446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95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35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BF8354-B760-43FA-B3CC-EFB4D01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35"/>
          </a:solidFill>
          <a:ln xmlns:a="http://schemas.openxmlformats.org/drawingml/2006/main" w="9525">
            <a:solidFill>
              <a:srgbClr val="0B112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1F2985-E486-42F2-935A-9925F35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95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Ephemeral 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63DBC9-0059-4425-98E0-D7041C7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00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Overlay + OCC + Replan 原生约束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6E0C3D-12C5-482C-9144-4B8A064D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385514-6EE6-4B84-865E-FD2A838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521951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E97AE-48C8-457D-88D2-A18F8C3C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1A16-36B1-4487-9BB6-C5FF1495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C8D4A-FF80-4CEE-9A2E-E8C6270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BA157-E806-4649-9E39-D30D317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35552-A1B2-4653-840A-81DB141B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2513-FBAA-4B39-9100-42975C4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8ECBC-207C-40D9-92BF-DA17091F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F6303-26B2-4B88-ACAD-83648064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5A9EF-1102-4170-9197-58EE3AC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69BF6-6520-4FC2-B1CF-6CAF3654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0429-DA88-4D0B-9AB2-53D5C5C4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D0146-F381-41B8-ABED-7E81AF9F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6FFC0-1C23-4435-822D-2E47E4D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C01BE-E0D1-484C-B713-AEFEFE3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384D2-EF7D-4EBB-B023-83DBD7A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022FE-3D02-42F0-B514-E95E0F53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03EF3-0190-43D0-B641-9BF84CED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18238-7D3F-4210-B09D-25AD821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BUSINESS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2A7B0-57AE-4877-B1A4-9A1998DF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SaaS / API / 企业长任务 / 私有化四条收入线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F7BD4-558B-4849-9B66-4802DA81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商业化从最痛的复杂长任务开始，逐步形成平台化收入结构。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8217B-55FE-4F45-9A9B-77E815F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3C39F-BA37-496F-94F0-40679B47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96B87-FB4C-42A0-AA37-7CC8BDE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48AAF-79AF-4C18-B880-0D9921A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D4AA"/>
                </a:solidFill>
              </a:defRPr>
            </a:pPr>
            <a:r>
              <a:rPr sz="1425" b="1">
                <a:solidFill>
                  <a:srgbClr val="00D4AA"/>
                </a:solidFill>
              </a:rPr>
              <a:t>订阅制 SaaS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7D76E-12EC-49BF-B62B-29A7CFB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个人开发者、中小团队使用 AI 工程协作工作台。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36962-CAD0-4348-B575-CE2A9D9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EAF47-93BE-417F-A4E5-066862F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2026 占比 70%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7FE22-F50A-4AE3-A7AB-383B2AD9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B486C-1836-4F17-9895-8F3EFD36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37F6C-3079-427C-B82A-D66AB81B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B82F6"/>
                </a:solidFill>
              </a:defRPr>
            </a:pPr>
            <a:r>
              <a:rPr sz="1425" b="1">
                <a:solidFill>
                  <a:srgbClr val="3B82F6"/>
                </a:solidFill>
              </a:rPr>
              <a:t>API / 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33D89E-C94C-4845-8D73-F1E69D7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向 AI-native 工具公司输出多 Agent 协作能力。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BDF8C-FB5D-4A37-B75A-7F608A8F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CFE96-D9A4-4F38-9C7E-8FD6E99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2026 占比 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BBB280-4F71-4593-94CF-CFAF759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1760B4-8AA9-4874-BF20-9B4471C9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2A805-FE7B-4456-8750-24A6C99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</a:defRPr>
            </a:pPr>
            <a:r>
              <a:rPr sz="1425" b="1">
                <a:solidFill>
                  <a:srgbClr val="8B5CF6"/>
                </a:solidFill>
              </a:rPr>
              <a:t>企业长任务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A9760E-DDB0-45AE-B758-3D17AB6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跨仓库重构、迁移、合规改造，以结果交付计价。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97AF67-D28E-4F30-BB89-52427A8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D7C89B-3D27-4F74-9692-B36C5C4B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2028 占比 35%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B682D4-A244-49BF-94F4-C3C0B713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381250" cy="259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64AC0C-DFC6-4DA1-82B3-8C1F16B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B1F22C-E62E-4B75-A4F6-EC0E506E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私有化部署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0C91FF-BE92-4F09-B4F7-48534F9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BD5E1"/>
                </a:solidFill>
              </a:defRPr>
            </a:pPr>
            <a:r>
              <a:rPr sz="1088" b="0">
                <a:solidFill>
                  <a:srgbClr val="CBD5E1"/>
                </a:solidFill>
              </a:rPr>
              <a:t>金融、政务、医疗等合规场景：隔离、审计、SLA。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6D27B6-DFF1-485E-87C3-FFCF24AA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EFED6C-DF03-45FC-857E-7E46A927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高客单价入口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A21172-7384-4DDF-9999-4204AF59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7724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1B5FCC-34F4-4075-8BFC-AC846D7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483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核心：把 token 消耗型工具，升级为工程结果交付型平台。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CE054-452F-4FB1-945C-134CB106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156D57-BA61-4404-A9B8-AAFA4E0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413483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06CE0-F39D-4349-82F8-98BD0D4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F2DC8-205D-48F5-921B-86AB5F98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6D70D-F40E-4FAE-ABF1-3281DDCA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6F72B-EE35-4E95-A31D-9216B04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7E7A4-15B6-4394-B6F7-695FC7A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2484-8203-44A5-B222-113EEDC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25D4-1F8F-4813-A109-99DF4DC1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29FBE-007C-4D49-BCB9-9880E94C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3EB8A-B639-4097-B1EF-B368D4A3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25204-FB67-4AA0-96A2-865766CE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2D5B6-9CA5-4B86-AE40-F2CC09B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8C7D8-5CD9-476A-8A33-5B25E7A6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31D79-3C4A-4858-87E4-97012451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FBEE8-1BC8-438E-A16A-7BC2813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DC7B3-8134-4DA8-926A-E2B20D8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2B485-3E71-41C7-B6F6-24E4C604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94C1E-6497-44EB-BCD8-A11BF8D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42C6F-745D-4DD3-BA4F-6F55E987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F1282-18D1-49FA-A53D-0403BA7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创始人背景与相关项目经验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2FE78-9920-48A1-A983-625F9FB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Ephemeral OS 来自 AI coding agent 产品实践，对移动端编程助手、企业版通用 agent 与工程交付有一线经验。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59313-8FBA-436F-BEDF-ADCA7906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B8502-7168-4C8D-82D9-099FD41E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762500" cy="3181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31F45-ED5E-46F1-9D1B-3269DE83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徐异凡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BE67E-5E34-452A-85BF-D2603A1E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4AA"/>
                </a:solidFill>
              </a:defRPr>
            </a:pPr>
            <a:r>
              <a:rPr sz="1200" b="1">
                <a:solidFill>
                  <a:srgbClr val="00D4AA"/>
                </a:solidFill>
              </a:rPr>
              <a:t>Founder / AI Coding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52F5C-986C-46EC-BB2B-0A207C7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多伦多大学 · 计算机本科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16CE3-A624-4546-8ECB-9BC5E63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南洋理工大学 · 人工智能硕士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D89E9-2E27-46D1-B133-0609435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AI coding agent 产品与工程系统方向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B303E-8267-4F5C-B528-330D595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长期关注 long-horizon 复杂任务执行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DA393-C69B-4D2E-A5CB-F4770C8E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953000" cy="3181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2E8FEE-E2A3-4BED-8A85-C7A18327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</a:defRPr>
            </a:pPr>
            <a:r>
              <a:rPr sz="1800" b="1">
                <a:solidFill>
                  <a:srgbClr val="8B5CF6"/>
                </a:solidFill>
              </a:rPr>
              <a:t>Synvo AI 项目经历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B614F-F143-44A5-87C9-1BF56364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Mobile Cocoa：手机编程助手项目 main contributor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A2929-072E-438E-B714-F33FDA5C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076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Super Cocoa：Synvo AI 旗下企业版通用 agent 项目 main contributor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1A566-04B2-464A-A261-DF7B37A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相关经验覆盖 agent 产品形态、工程交付链路与企业版需求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BD8CA2-22BF-4D45-A8B6-6BD2947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BD5E1"/>
                </a:solidFill>
              </a:defRPr>
            </a:pPr>
            <a:r>
              <a:rPr sz="1163" b="0">
                <a:solidFill>
                  <a:srgbClr val="CBD5E1"/>
                </a:solidFill>
              </a:rPr>
              <a:t>• 下一步团队补齐分布式系统、Agent runtime、DevRel 与企业销售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24EE2A-D22E-454D-A43F-33635E3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8805F-E61B-4601-91CF-FD75C1A8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795507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56C83-9E9F-4464-AC66-5EC3E73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2A7C1-05B2-4C72-850B-08ADC503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002E1-8FCC-427C-B8BE-9472DADD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C675B-4AD5-46E7-95FC-C7875AB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29DE8-1972-4594-9ECC-5494B35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D91BC-C7EB-4E88-9CF7-9D2BA63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75F4B-150F-4BAA-B761-B585167A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78AB5-1D54-4127-96C3-A49DA92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3108E-AF31-445A-9EDB-768E2BA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252E9-F5E3-4A97-BDE5-4BCFF75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405FE-692E-4511-A816-2AEB51A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AB858-A76D-4151-A236-2B3FED05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FBB56-0BDE-4B97-936A-EBCDE648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AE1F2-897C-4090-9022-88BAA2B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A7C74-1ED7-473B-B23D-9C80DFA3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67FBF-7F4F-4027-BFFC-1A0C06E0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3F4DE-FDA3-4AD7-8D20-4FB5A68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CD9C4-0F94-4607-AF28-6839D9E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FINANCIALS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B4617-C7FF-405F-B7AD-3C5949F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收入结构从订阅转向企业长任务与私有化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D2B8D-D8AF-4117-862C-B70F61F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保持简单：展示收入结构、ARPU 变化、融资用途和 18 个月里程碑。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24B99-E351-4D07-9444-7483216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91103-1D8E-4768-8B71-F90515E0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6762750" cy="3238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123950" y="2552700"/>
          <a:ext xmlns:a="http://schemas.openxmlformats.org/drawingml/2006/main" cx="5905500" cy="2343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becd1e1d9c40b3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34F6D-FBD4-48C1-8641-B995F627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667000" cy="933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22C8B-CF16-473E-9728-FD8A0FC1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4CAE2-B703-460B-B833-9B7554F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$150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87F8B4-2FEA-4393-86D8-ED5528E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2026 人均 ARPU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F8A47-6D6C-43C7-AAE8-B186CC82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订阅主导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242FB-85E9-433D-BBA5-2BD170C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667000" cy="933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D4A4B-F090-4820-AD22-96D3A28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F698D-E644-4E0C-851B-C014C58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$220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E336D4-0DDC-49F6-9994-69EF954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2027 人均 ARPU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194C92-48AE-48F4-BAEC-1A1B2DA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企业/API 占比提升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1DBD6B-1FD8-4836-ADB5-6F9A686B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2667000" cy="933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3350C0-39F0-44AD-A209-7D6FE04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A6615-EA32-4415-8B47-2C79601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13033A-C6B4-4FE2-A5C4-F40F7D4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</a:defRPr>
            </a:pPr>
            <a:r>
              <a:rPr sz="938" b="0">
                <a:solidFill>
                  <a:srgbClr val="CBD5E1"/>
                </a:solidFill>
              </a:rPr>
              <a:t>2028 人均 ARPU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97EE96-702F-4A81-8858-6D2F8F2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721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</a:defRPr>
            </a:pPr>
            <a:r>
              <a:rPr sz="750" b="0">
                <a:solidFill>
                  <a:srgbClr val="94A3B8"/>
                </a:solidFill>
              </a:rPr>
              <a:t>企业长任务放量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8A358-800E-4828-BCA1-0ACDAAD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38800"/>
            <a:ext cx="8877300" cy="361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B1120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A3B91-ECA9-44CB-9F5A-3A544CE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43575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68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</a:rPr>
              <a:t>Seed 目标：$2-5M，用于核心团队、公开评测、开源社区和首批 Design Partner。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C50496-88D4-4A36-8185-A40B813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EA9489-4698-4805-9C28-2416ABA8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373148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ABC9C0-B7ED-427A-97A0-836B6A107C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47769-6A8A-4E28-BB95-BE883C5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7E31B-A962-452A-A800-752D0570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DACC2-689F-4CA2-948F-101EE929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555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B9D51-9980-44CE-88C1-107B6B2B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2125-FE78-4ABF-AC21-CCB3E94D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048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142F3-42A4-49C9-99FC-6312A31E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250E4-B283-4935-BC3D-1E68886C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C9C20-448A-4958-9C36-80CFB2BC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2ED0C-79AC-46C5-B081-D3DCA44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BEDF5-14F6-4C76-9196-BF10ECA3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44513-576B-4733-A1F5-19041CA2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4ED2F-1459-4C34-9982-DEB9E5C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1B8D0-0FAB-4BA1-93FB-9757086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0668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82268-D8CF-40C3-89F1-75A8D86D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F3DC4-B8FE-4782-9FB3-A0172CD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26063-D44C-45E5-9E2C-C03C4B6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FFE6E-4B80-4482-B2B0-C02EAA8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7FB6F-D0FC-4704-A9D5-C8D0042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</a:rPr>
              <a:t>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ECA9F-6476-437B-A0AD-1554CDE6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五年后：AI 工程协作系统成为软件开发基础设施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411A1-F070-477D-81AA-CAA1B775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如果一切顺利，Ephemeral OS 不只是 coding agent，而是通用 Agent OS 的底层协作内核。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202FD-D2E2-4B34-AFEC-8306059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872EB-8C47-4544-B6DF-3C172A50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3431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617E1-4C90-43E5-8D90-EC4D567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95BB6-9F7F-4CDA-AE97-7942DCD4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D4AA"/>
                </a:solidFill>
              </a:defRPr>
            </a:pPr>
            <a:r>
              <a:rPr sz="2400" b="1">
                <a:solidFill>
                  <a:srgbClr val="00D4AA"/>
                </a:solidFill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04166-6B9C-42AE-B9FB-EBF4BF5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88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Multi-agent coding 内核验证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SWE-Evo 从 ~25% 向 50%+ 推进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D942A-E48B-4D8F-B5AC-31E5765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23431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89EB5-D1D2-4971-B8F1-08EE7F5C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C7E84-0571-4E33-AA9B-BDCAF90C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B82F6"/>
                </a:solidFill>
              </a:defRPr>
            </a:pPr>
            <a:r>
              <a:rPr sz="2400" b="1">
                <a:solidFill>
                  <a:srgbClr val="3B82F6"/>
                </a:solidFill>
              </a:rPr>
              <a:t>2027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FEC57-FAA0-49EE-A079-36DAED4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188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商用版发布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企业长任务交付产品上线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E3ABF-9C40-48DC-A164-07A7CD32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3431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E2371-03D4-4FFB-804D-10E07279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3EE913-C0F5-4906-9724-2357D7E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B5CF6"/>
                </a:solidFill>
              </a:defRPr>
            </a:pPr>
            <a:r>
              <a:rPr sz="2400" b="1">
                <a:solidFill>
                  <a:srgbClr val="8B5CF6"/>
                </a:solidFill>
              </a:rPr>
              <a:t>2028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D508C-18E5-4F5B-A296-F2F207AA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188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SDK / API 与私有化规模化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企业级收入占比提升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1B7207-8B57-4D81-ABBD-DCEBF40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3431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129CD-EE32-4F01-A5BE-CEE29AA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8E5DD4-E9B8-4D4D-BB13-463DE544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2030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D1E3BF-4EBC-4B00-932C-52CBF08D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88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从 Coding Agent 演进为通用 Agent 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AE4B74-9F0F-4E30-8E8E-F887E765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914400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63B35"/>
          </a:solidFill>
          <a:ln xmlns:a="http://schemas.openxmlformats.org/drawingml/2006/main" w="11430">
            <a:solidFill>
              <a:srgbClr val="00D4A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0979DC-FA9E-4A83-B747-83A1702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59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从“AI 程序员”走向“AI 工程团队”，再走向通用任务执行的 Agent OS。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46C97A-163B-491A-A9B7-8C666AC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Ephemeral OS  —  Confidential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B9A9B3-99B5-4D7C-AF18-1286281C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384106960"/>
      </p:ext>
    </p:extLst>
  </p:cSld>
</p:sld>
</file>

<file path=ppt/theme/theme1.xml><?xml version="1.0" encoding="utf-8"?>
<a:theme xmlns:a="http://schemas.openxmlformats.org/drawingml/2006/main" name="Ephemeral OS Investor BP">
  <a:themeElements>
    <a:clrScheme name="Ephemeral OS Investor BP">
      <a:accent1>
        <a:srgbClr val="00D4AA"/>
      </a:accent1>
      <a:accent2>
        <a:srgbClr val="3B82F6"/>
      </a:accent2>
      <a:accent3>
        <a:srgbClr val="8B5CF6"/>
      </a:accent3>
      <a:accent4>
        <a:srgbClr val="F59E0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phemeral OS Investor B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2026-04-21T13:20:45.6290000Z</dcterms:created>
  <dcterms:modified xsi:type="dcterms:W3CDTF">2026-04-21T13:20:45.6290000Z</dcterms:modified>
</coreProperties>
</file>